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중한무역 고객센터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Multi-Agent RAG with Reflection for B2B Trade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6400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7222D"/>
                </a:solidFill>
                <a:latin typeface="Malgun Gothic"/>
              </a:rPr>
              <a:t>문의 분류 → 지식 검색 → 답변 생성 → 리스크 검토 → 자기수정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57484"/>
                </a:solidFill>
                <a:latin typeface="Malgun Gothic"/>
              </a:rPr>
              <a:t>실제 실행 가능한 웹앱과 30개 케이스 평가까지 포함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057400"/>
            <a:ext cx="1234440" cy="310896"/>
          </a:xfrm>
          <a:prstGeom prst="roundRect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71815" y="2121408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745E"/>
                </a:solidFill>
                <a:latin typeface="Malgun Gothic"/>
              </a:rPr>
              <a:t>Multi-Agent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057400"/>
            <a:ext cx="1234440" cy="310896"/>
          </a:xfrm>
          <a:prstGeom prst="roundRect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121408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F5D9C"/>
                </a:solidFill>
                <a:latin typeface="Malgun Gothic"/>
              </a:rPr>
              <a:t>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2057400"/>
            <a:ext cx="1234440" cy="310896"/>
          </a:xfrm>
          <a:prstGeom prst="roundRect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0696" y="2121408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B8671F"/>
                </a:solidFill>
                <a:latin typeface="Malgun Gothic"/>
              </a:rPr>
              <a:t>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6060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1" y="2752344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결과물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3136392"/>
            <a:ext cx="311810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FastAPI Web App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GitHub Repository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PPT / 논문 / 평가 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6636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745E"/>
                </a:solidFill>
                <a:latin typeface="Malgun Gothic"/>
              </a:rPr>
              <a:t>Demo: http://127.0.0.1:8000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문제 배경: 무역 상담은 짧지만 복잡합니다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고객 질문 하나에 제품, 공급처, 물류, 통관, 책임 문제가 함께 들어옵니다.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2/12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057400"/>
            <a:ext cx="1005840" cy="1005840"/>
          </a:xfrm>
          <a:prstGeom prst="ellipse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불완전한 문의</a:t>
            </a:r>
          </a:p>
        </p:txBody>
      </p:sp>
      <p:sp>
        <p:nvSpPr>
          <p:cNvPr id="10" name="Oval 9"/>
          <p:cNvSpPr/>
          <p:nvPr/>
        </p:nvSpPr>
        <p:spPr>
          <a:xfrm>
            <a:off x="2880360" y="2057400"/>
            <a:ext cx="1005840" cy="1005840"/>
          </a:xfrm>
          <a:prstGeom prst="ellipse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5D9C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근거 부족</a:t>
            </a:r>
          </a:p>
        </p:txBody>
      </p:sp>
      <p:sp>
        <p:nvSpPr>
          <p:cNvPr id="13" name="Oval 12"/>
          <p:cNvSpPr/>
          <p:nvPr/>
        </p:nvSpPr>
        <p:spPr>
          <a:xfrm>
            <a:off x="4892040" y="2057400"/>
            <a:ext cx="1005840" cy="1005840"/>
          </a:xfrm>
          <a:prstGeom prst="ellipse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8671F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단정 답변 위험</a:t>
            </a:r>
          </a:p>
        </p:txBody>
      </p:sp>
      <p:sp>
        <p:nvSpPr>
          <p:cNvPr id="16" name="Oval 15"/>
          <p:cNvSpPr/>
          <p:nvPr/>
        </p:nvSpPr>
        <p:spPr>
          <a:xfrm>
            <a:off x="6903720" y="2057400"/>
            <a:ext cx="1005840" cy="1005840"/>
          </a:xfrm>
          <a:prstGeom prst="ellipse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반복 상담</a:t>
            </a:r>
          </a:p>
        </p:txBody>
      </p:sp>
      <p:sp>
        <p:nvSpPr>
          <p:cNvPr id="19" name="Oval 18"/>
          <p:cNvSpPr/>
          <p:nvPr/>
        </p:nvSpPr>
        <p:spPr>
          <a:xfrm>
            <a:off x="8915400" y="2057400"/>
            <a:ext cx="1005840" cy="1005840"/>
          </a:xfrm>
          <a:prstGeom prst="ellipse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5D9C"/>
                </a:solidFill>
                <a:latin typeface="Malgun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담당자 부담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74519" y="2560320"/>
            <a:ext cx="777241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86200" y="2560320"/>
            <a:ext cx="77724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97880" y="2560320"/>
            <a:ext cx="77724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09560" y="2560320"/>
            <a:ext cx="77724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41605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306824"/>
            <a:ext cx="2962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예시 질문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690872"/>
            <a:ext cx="288950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“1688 구매대행 가능한가요?”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“불량 15%인데 환불되나요?”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1605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4306824"/>
            <a:ext cx="2962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필요 정보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7" y="4690872"/>
            <a:ext cx="288950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URL, 옵션, 수량, 배송지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증빙, 검품 기록, 주문 자료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1605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4306824"/>
            <a:ext cx="2962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리스크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4690872"/>
            <a:ext cx="288950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가격·납기·통관·환불 보장 금지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Task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자연어 문의를 ‘실무 상담 가능한 구조’로 변환합니다.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3/12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66544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2569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한국어 고객 문의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제품/구매/불량/통관 질문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정보가 부족한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066544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Agent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450592"/>
            <a:ext cx="2569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Intent 분류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RAG 검색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필수 정보 체크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Risk &amp; Critic 검토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92024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2066544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2450592"/>
            <a:ext cx="2569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고객 응답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누락 정보 리스트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근거 trace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담당자 확인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3520440"/>
            <a:ext cx="64008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5240" y="3520440"/>
            <a:ext cx="64008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역할을 분리해 상담 품질을 통제합니다.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4/12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분류/누락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50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RAG 검색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36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답변 초안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22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위험 표현 수정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08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92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Critic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Reflection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43484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4581144"/>
            <a:ext cx="4425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단일 LLM 대비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4965192"/>
            <a:ext cx="43525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처리 단계가 분리되어 평가와 디버깅이 가능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43484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4581144"/>
            <a:ext cx="4425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과제 요건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4965192"/>
            <a:ext cx="43525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Multi-Agent + RAG + Reflection을 명확히 충족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RAG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회사 서비스 범위와 업무 절차를 검색해 답변합니다.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5/12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8404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3511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Knowledge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3438144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Company Profile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OEM/ODM Service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Purchasing Agency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Yiwu Market Research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Defect Claim Process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Logistics / Customs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Quotation Required Fields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t>FAQ</a:t>
            </a:r>
          </a:p>
        </p:txBody>
      </p:sp>
      <p:sp>
        <p:nvSpPr>
          <p:cNvPr id="10" name="Chevron 9"/>
          <p:cNvSpPr/>
          <p:nvPr/>
        </p:nvSpPr>
        <p:spPr>
          <a:xfrm>
            <a:off x="4983480" y="2971800"/>
            <a:ext cx="1234440" cy="731520"/>
          </a:xfrm>
          <a:prstGeom prst="chevron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3218688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5D9C"/>
                </a:solidFill>
                <a:latin typeface="Malgun Gothic"/>
              </a:rPr>
              <a:t>Retrieve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828800"/>
            <a:ext cx="4389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1975104"/>
            <a:ext cx="40599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Grounded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2359152"/>
            <a:ext cx="3986783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구매대행: URL/옵션/배송지 요청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불량대응: 사진/영상/주문자료 요청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통관: 재질/HS Code/인증 여부 요청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회사 업무 범위 밖 약속 방지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0288" y="3337560"/>
            <a:ext cx="301752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36208" y="3337560"/>
            <a:ext cx="393192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Reflection &amp; Risk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친절한 답변보다 안전한 답변이 중요합니다.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6/12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983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4654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03E3E"/>
                </a:solidFill>
                <a:latin typeface="Malgun Gothic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458114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“무조건 가능합니다.”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“통관 보장됩니다.”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“반드시 환불됩니다.”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“납기는 7일이면 됩니다.”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4983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975104"/>
            <a:ext cx="4654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359152"/>
            <a:ext cx="458114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공급처 확인 후 가능 여부 안내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품목·서류·인증 요건 확인 필요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증빙과 거래 조건 확인 후 클레임 검토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제품 자료 확인 후 예상 납기 안내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3429000"/>
            <a:ext cx="502920" cy="0"/>
          </a:xfrm>
          <a:prstGeom prst="line">
            <a:avLst/>
          </a:prstGeom>
          <a:ln w="22860">
            <a:solidFill>
              <a:srgbClr val="B86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39512" y="2880360"/>
            <a:ext cx="1097280" cy="310896"/>
          </a:xfrm>
          <a:prstGeom prst="roundRect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944368"/>
            <a:ext cx="1024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B8671F"/>
                </a:solidFill>
                <a:latin typeface="Malgun Gothic"/>
              </a:rPr>
              <a:t>Critic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Web App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상담, Agent 상태, 필수 정보, Trace를 한 화면에서 확인합니다.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7/12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7222D"/>
                </a:solidFill>
                <a:latin typeface="Malgun Gothic"/>
              </a:rPr>
              <a:t>중한무역 고객센터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1993392"/>
            <a:ext cx="1143000" cy="310896"/>
          </a:xfrm>
          <a:prstGeom prst="roundRect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74936" y="2057400"/>
            <a:ext cx="10698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745E"/>
                </a:solidFill>
                <a:latin typeface="Malgun Gothic"/>
              </a:rPr>
              <a:t>API 연결됨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514600"/>
            <a:ext cx="1874519" cy="3337560"/>
          </a:xfrm>
          <a:prstGeom prst="rect">
            <a:avLst/>
          </a:prstGeom>
          <a:solidFill>
            <a:srgbClr val="E7EFF9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7222D"/>
                </a:solidFill>
                <a:latin typeface="Malgun Gothic"/>
              </a:rPr>
              <a:t>상담 유형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306324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312724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OEM/ODM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347472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9576" y="353872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구매대행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" y="388620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" y="395020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시장조사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" y="429768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36168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불량대응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" y="470916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" y="477316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통관/인증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2514600"/>
            <a:ext cx="484632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27889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2745E"/>
                </a:solidFill>
                <a:latin typeface="Malgun Gothic"/>
              </a:rPr>
              <a:t>고객: 제품 중 15%가 파손됐어요.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3310128"/>
            <a:ext cx="4297680" cy="1371600"/>
          </a:xfrm>
          <a:prstGeom prst="roundRect">
            <a:avLst/>
          </a:prstGeom>
          <a:solidFill>
            <a:srgbClr val="E7EFF9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3520440"/>
            <a:ext cx="3794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7222D"/>
                </a:solidFill>
                <a:latin typeface="Malgun Gothic"/>
              </a:rPr>
              <a:t>AI 상담: defect_claim으로 분류하고
사진/수량/주문자료/검품 여부를 요청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514600"/>
            <a:ext cx="2971800" cy="3337560"/>
          </a:xfrm>
          <a:prstGeom prst="rect">
            <a:avLst/>
          </a:prstGeom>
          <a:solidFill>
            <a:srgbClr val="DEF2EB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74320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7222D"/>
                </a:solidFill>
                <a:latin typeface="Malgun Gothic"/>
              </a:rPr>
              <a:t>Agent 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2004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7222D"/>
                </a:solidFill>
                <a:latin typeface="Malgun Gothic"/>
              </a:rPr>
              <a:t>Intent: defect_claim
Critic: 5/5
LLM: 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29768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2745E"/>
                </a:solidFill>
                <a:latin typeface="Malgun Gothic"/>
              </a:rPr>
              <a:t>RAG / Reflection trace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Live Demo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2분 데모로 Agent의 작동 근거를 보여줍니다.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8/12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66544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1576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앱 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255264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앱 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639312"/>
            <a:ext cx="22494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http://127.0.0.1:8000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API 연결 상태 확인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2240280"/>
            <a:ext cx="196596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26280" y="1920240"/>
            <a:ext cx="685800" cy="685800"/>
          </a:xfrm>
          <a:prstGeom prst="ellipse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66544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5D9C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71576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질문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10896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255264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질문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639312"/>
            <a:ext cx="22494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불량 15% 파손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Trace 옵션 켜기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32120" y="2240280"/>
            <a:ext cx="1965959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0" y="1920240"/>
            <a:ext cx="685800" cy="685800"/>
          </a:xfrm>
          <a:prstGeom prst="ellipse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066544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8671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71576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결과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10896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255264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결과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8" y="3639312"/>
            <a:ext cx="22494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intent / missing fields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RAG evidence / critic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핵심 메시지: 답변뿐 아니라 Agent가 왜 그렇게 답했는지 trace로 설명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Benchmark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도메인 task에 맞춘 30개 평가 케이스를 구축했습니다.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9/12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23159"/>
            <a:ext cx="960120" cy="2468880"/>
          </a:xfrm>
          <a:prstGeom prst="rect">
            <a:avLst/>
          </a:prstGeom>
          <a:solidFill>
            <a:srgbClr val="127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OEM/ODM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39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745E"/>
                </a:solidFill>
                <a:latin typeface="Malgun Gothic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423159"/>
            <a:ext cx="960120" cy="2468880"/>
          </a:xfrm>
          <a:prstGeom prst="rect">
            <a:avLst/>
          </a:prstGeom>
          <a:solidFill>
            <a:srgbClr val="2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구매대행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48839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5D9C"/>
                </a:solidFill>
                <a:latin typeface="Malgun Gothic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834639"/>
            <a:ext cx="960120" cy="2057400"/>
          </a:xfrm>
          <a:prstGeom prst="rect">
            <a:avLst/>
          </a:prstGeom>
          <a:solidFill>
            <a:srgbClr val="B86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시장조사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5603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8671F"/>
                </a:solidFill>
                <a:latin typeface="Malgun Gothic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2834639"/>
            <a:ext cx="960120" cy="2057400"/>
          </a:xfrm>
          <a:prstGeom prst="rect">
            <a:avLst/>
          </a:prstGeom>
          <a:solidFill>
            <a:srgbClr val="127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불량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25603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745E"/>
                </a:solidFill>
                <a:latin typeface="Malgun Gothic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834639"/>
            <a:ext cx="960120" cy="2057400"/>
          </a:xfrm>
          <a:prstGeom prst="rect">
            <a:avLst/>
          </a:prstGeom>
          <a:solidFill>
            <a:srgbClr val="2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물류/통관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5603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5D9C"/>
                </a:solidFill>
                <a:latin typeface="Malgun Gothic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657599"/>
            <a:ext cx="960120" cy="1234440"/>
          </a:xfrm>
          <a:prstGeom prst="rect">
            <a:avLst/>
          </a:prstGeom>
          <a:solidFill>
            <a:srgbClr val="B86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383279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8671F"/>
                </a:solidFill>
                <a:latin typeface="Malgun Gothic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874519"/>
            <a:ext cx="3200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1" y="2020824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비교 대상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2404872"/>
            <a:ext cx="279806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Baseline LLM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Baseline RAG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Proposed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46177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4764024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재현성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5148072"/>
            <a:ext cx="279806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동일 케이스 / 동일 스크립트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Evaluation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제안 시스템은 필수 정보 수집 능력을 크게 개선했습니다.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10/12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17222D"/>
                </a:solidFill>
                <a:latin typeface="Malgun Gothic"/>
              </a:rPr>
              <a:t>Required Information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7222D"/>
                </a:solidFill>
                <a:latin typeface="Malgun Gothic"/>
              </a:rPr>
              <a:t>Baseline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560320"/>
            <a:ext cx="5303520" cy="320040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2560320"/>
            <a:ext cx="737189" cy="320040"/>
          </a:xfrm>
          <a:prstGeom prst="rect">
            <a:avLst/>
          </a:prstGeom>
          <a:solidFill>
            <a:srgbClr val="B86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55117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B8671F"/>
                </a:solidFill>
                <a:latin typeface="Malgun Gothic"/>
              </a:rPr>
              <a:t>0.139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2900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7222D"/>
                </a:solidFill>
                <a:latin typeface="Malgun Gothic"/>
              </a:rPr>
              <a:t>Baseline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429000"/>
            <a:ext cx="5303520" cy="320040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3429000"/>
            <a:ext cx="3595786" cy="320040"/>
          </a:xfrm>
          <a:prstGeom prst="rect">
            <a:avLst/>
          </a:prstGeom>
          <a:solidFill>
            <a:srgbClr val="2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41985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D9C"/>
                </a:solidFill>
                <a:latin typeface="Malgun Gothic"/>
              </a:rPr>
              <a:t>0.678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97679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7222D"/>
                </a:solidFill>
                <a:latin typeface="Malgun Gothic"/>
              </a:rPr>
              <a:t>Proposed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4297679"/>
            <a:ext cx="5303520" cy="320040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4297679"/>
            <a:ext cx="5128503" cy="320040"/>
          </a:xfrm>
          <a:prstGeom prst="rect">
            <a:avLst/>
          </a:prstGeom>
          <a:solidFill>
            <a:srgbClr val="127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28853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2745E"/>
                </a:solidFill>
                <a:latin typeface="Malgun Gothic"/>
              </a:rPr>
              <a:t>0.967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103120"/>
            <a:ext cx="2148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249424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해석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633472"/>
            <a:ext cx="174650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RAG는 근거성 개선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Reflection은 누락 정보 보완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Overpromise rate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222D"/>
                </a:solidFill>
                <a:latin typeface="Malgun Gothic"/>
              </a:rPr>
              <a:t>무역 상담에서 초기 필수 정보 수집은 견적, 클레임, 통관 판단의 출발점입니다.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한계와 윤리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AI는 최종 결정자가 아니라 상담 보조자입니다.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751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AI가 하면 안 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2980944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법률 판단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통관·인증 확정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환불·보상 확정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회사 역량 과장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9751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보호해야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59152"/>
            <a:ext cx="2980944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거래 자료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계약/주문 정보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제품 정보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개인정보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9751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운영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359152"/>
            <a:ext cx="2980944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근거 기반 답변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불확실성 명시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담당자 연결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로그/권한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TradeCare-Agent는 실제 서비스에 가까운 Agent 기반 고객센터 앱입니다.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기술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29352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Multi-Agent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RAG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Reflection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FastAPI Tool/API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97510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59152"/>
            <a:ext cx="29352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웹앱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GitHub Repository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지식베이스/프롬프트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평가 벤치마크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발표/논문 자료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97510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확장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359152"/>
            <a:ext cx="29352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실제 상담 로그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품목별 인증 DB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관리자 이관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t>trade-yh.com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2745E"/>
                </a:solidFill>
                <a:latin typeface="Malgun Gothic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