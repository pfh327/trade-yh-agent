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 w="12700">
            <a:solidFill>
              <a:srgbClr val="F7F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011680"/>
          </a:xfrm>
          <a:prstGeom prst="arc">
            <a:avLst/>
          </a:prstGeom>
          <a:noFill/>
          <a:ln w="12700">
            <a:solidFill>
              <a:srgbClr val="CDE7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20040"/>
            <a:ext cx="1097280" cy="1097280"/>
          </a:xfrm>
          <a:prstGeom prst="rect">
            <a:avLst/>
          </a:prstGeom>
          <a:solidFill>
            <a:srgbClr val="EDF7FC">
              <a:alpha val="9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777240"/>
            <a:ext cx="91440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41732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2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TradeCare-Agent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005840" y="22402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37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중한무역 고객센터 AI 상담 도우미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51560" y="2999232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02033"/>
                </a:solidFill>
              </a:rPr>
              <a:t>Multi-Agent · RAG · Reflection 구조를 활용한 안전한 B2B 무역 상담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34640" y="3703320"/>
            <a:ext cx="6492240" cy="0"/>
          </a:xfrm>
          <a:prstGeom prst="line">
            <a:avLst/>
          </a:prstGeom>
          <a:noFill/>
          <a:ln w="12700">
            <a:solidFill>
              <a:srgbClr val="A9C8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24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4팀 갈예동 · 온원 · 박복화 · 장가풍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 w="12700">
            <a:solidFill>
              <a:srgbClr val="F7F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011680"/>
          </a:xfrm>
          <a:prstGeom prst="arc">
            <a:avLst/>
          </a:prstGeom>
          <a:noFill/>
          <a:ln w="12700">
            <a:solidFill>
              <a:srgbClr val="CDE7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20040"/>
            <a:ext cx="1097280" cy="1097280"/>
          </a:xfrm>
          <a:prstGeom prst="rect">
            <a:avLst/>
          </a:prstGeom>
          <a:solidFill>
            <a:srgbClr val="EDF7FC">
              <a:alpha val="9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777240"/>
            <a:ext cx="91440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흐름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237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문제 정의 → 설계 → 구현 → 평가 순서로 설명합니다.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2514600" cy="26974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2002536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1단계: 문제 배경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4672" y="2404872"/>
            <a:ext cx="2185416" cy="2039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무역 상담은 질문은 짧지만 확인할 정보가 많습니다.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520440" y="1874520"/>
            <a:ext cx="2514600" cy="26974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2002536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2단계: Agent 구조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85032" y="2404872"/>
            <a:ext cx="2185416" cy="2039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5개 역할, RAG 검색, Reflection 검토를 결합했습니다.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0" y="1874520"/>
            <a:ext cx="2514600" cy="26974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2002536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3단계: 앱 구현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65392" y="2404872"/>
            <a:ext cx="2185416" cy="2039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상담 화면에서 답변과 근거를 확인할 수 있습니다.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281160" y="1874520"/>
            <a:ext cx="2514600" cy="269748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45752" y="2002536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4단계: 평가와 결론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445752" y="2404872"/>
            <a:ext cx="2185416" cy="20391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30개 사례와 비교 실험으로 효과를 확인했습니다.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 w="12700">
            <a:solidFill>
              <a:srgbClr val="F7F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011680"/>
          </a:xfrm>
          <a:prstGeom prst="arc">
            <a:avLst/>
          </a:prstGeom>
          <a:noFill/>
          <a:ln w="12700">
            <a:solidFill>
              <a:srgbClr val="CDE7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20040"/>
            <a:ext cx="1097280" cy="1097280"/>
          </a:xfrm>
          <a:prstGeom prst="rect">
            <a:avLst/>
          </a:prstGeom>
          <a:solidFill>
            <a:srgbClr val="EDF7FC">
              <a:alpha val="9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777240"/>
            <a:ext cx="91440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배경: 짧은 질문, 많은 확인 정보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237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중한무역 상담은 바로 답하기 전에 필요한 자료를 먼저 모아야 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1554480"/>
            <a:ext cx="429768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682496"/>
            <a:ext cx="3968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질문 예시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41832" y="2084832"/>
            <a:ext cx="3968496" cy="1399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중국에서 제 브랜드로 제작 가능한가요?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불량이 15%인데 환불 가능한가요?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40680" y="2240280"/>
            <a:ext cx="914400" cy="640080"/>
          </a:xfrm>
          <a:prstGeom prst="rightArrow">
            <a:avLst/>
          </a:prstGeom>
          <a:solidFill>
            <a:srgbClr val="DDF1FB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29400" y="1234440"/>
            <a:ext cx="452628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1B9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93992" y="1362456"/>
            <a:ext cx="4197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확인해야 할 정보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93992" y="1764792"/>
            <a:ext cx="4197096" cy="2587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사진, 사양, 수량, 로고 파일, 납기, 배송지, 주문 기록, 불량 사진/영상, 검수 이력, 통관·인증 조건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892040"/>
            <a:ext cx="10561320" cy="594360"/>
          </a:xfrm>
          <a:prstGeom prst="roundRect">
            <a:avLst>
              <a:gd name="adj" fmla="val 9231"/>
            </a:avLst>
          </a:prstGeom>
          <a:solidFill>
            <a:srgbClr val="F26B4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5029200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</a:rPr>
              <a:t>핵심 위험: 정보가 부족한 상태에서 단가, 납기, 통관, 환불을 확정해서 말하면 안 됩니다.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 w="12700">
            <a:solidFill>
              <a:srgbClr val="F7F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011680"/>
          </a:xfrm>
          <a:prstGeom prst="arc">
            <a:avLst/>
          </a:prstGeom>
          <a:noFill/>
          <a:ln w="12700">
            <a:solidFill>
              <a:srgbClr val="CDE7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20040"/>
            <a:ext cx="1097280" cy="1097280"/>
          </a:xfrm>
          <a:prstGeom prst="rect">
            <a:avLst/>
          </a:prstGeom>
          <a:solidFill>
            <a:srgbClr val="EDF7FC">
              <a:alpha val="9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777240"/>
            <a:ext cx="91440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입력과 출력: 질문을 상담 준비 정보로 바꾸기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237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고객의 한 줄 질문을 담당자가 처리 가능한 상담 접수 정보로 정리합니다.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30175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956816"/>
            <a:ext cx="26883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0392" y="2359152"/>
            <a:ext cx="2688336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고객의 자연어 질문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제품 제작 가능 여부,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구매대행, 불량 대응,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물류·통관 문의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069080" y="2423160"/>
            <a:ext cx="868680" cy="868680"/>
          </a:xfrm>
          <a:prstGeom prst="chevron">
            <a:avLst/>
          </a:prstGeom>
          <a:solidFill>
            <a:srgbClr val="DDF1FB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74920" y="1417320"/>
            <a:ext cx="2834640" cy="301752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1B9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9512" y="1545336"/>
            <a:ext cx="25054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과정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39512" y="1947672"/>
            <a:ext cx="2505456" cy="23591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유형 분류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문서 검색(RAG)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초안 작성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표현 검토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재확인(Reflection)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75320" y="2423160"/>
            <a:ext cx="868680" cy="868680"/>
          </a:xfrm>
          <a:prstGeom prst="chevron">
            <a:avLst/>
          </a:prstGeom>
          <a:solidFill>
            <a:srgbClr val="DDF1FB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81160" y="1828800"/>
            <a:ext cx="24231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45752" y="1956816"/>
            <a:ext cx="20939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45752" y="2359152"/>
            <a:ext cx="2093976" cy="15361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답변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정보 체크리스트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확인 필요 사항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 w="12700">
            <a:solidFill>
              <a:srgbClr val="F7F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011680"/>
          </a:xfrm>
          <a:prstGeom prst="arc">
            <a:avLst/>
          </a:prstGeom>
          <a:noFill/>
          <a:ln w="12700">
            <a:solidFill>
              <a:srgbClr val="CDE7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20040"/>
            <a:ext cx="1097280" cy="1097280"/>
          </a:xfrm>
          <a:prstGeom prst="rect">
            <a:avLst/>
          </a:prstGeom>
          <a:solidFill>
            <a:srgbClr val="EDF7FC">
              <a:alpha val="9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777240"/>
            <a:ext cx="91440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5-Agent 구조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237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한 번에 답하지 않고, 역할을 나누어 단계별로 검토합니다.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48256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Intake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" y="2450592"/>
            <a:ext cx="1636776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분류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정보 찾기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2441448" y="2606040"/>
            <a:ext cx="320040" cy="320040"/>
          </a:xfrm>
          <a:prstGeom prst="rightArrow">
            <a:avLst/>
          </a:prstGeom>
          <a:solidFill>
            <a:srgbClr val="A9C8DA"/>
          </a:solidFill>
          <a:ln w="12700">
            <a:solidFill>
              <a:srgbClr val="A9C8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192024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53512" y="2048256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Retrieval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53512" y="2450592"/>
            <a:ext cx="1636776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문서 검색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근거 확보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773168" y="2606040"/>
            <a:ext cx="320040" cy="320040"/>
          </a:xfrm>
          <a:prstGeom prst="rightArrow">
            <a:avLst/>
          </a:prstGeom>
          <a:solidFill>
            <a:srgbClr val="A9C8DA"/>
          </a:solidFill>
          <a:ln w="12700">
            <a:solidFill>
              <a:srgbClr val="A9C8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92024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85232" y="2048256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Specialist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285232" y="2450592"/>
            <a:ext cx="1636776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답변 초안 작성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104888" y="2606040"/>
            <a:ext cx="320040" cy="320040"/>
          </a:xfrm>
          <a:prstGeom prst="rightArrow">
            <a:avLst/>
          </a:prstGeom>
          <a:solidFill>
            <a:srgbClr val="A9C8DA"/>
          </a:solidFill>
          <a:ln w="12700">
            <a:solidFill>
              <a:srgbClr val="A9C8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192024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16952" y="2048256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Risk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616952" y="2450592"/>
            <a:ext cx="1636776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표현과 위험 문구 점검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436608" y="2606040"/>
            <a:ext cx="320040" cy="320040"/>
          </a:xfrm>
          <a:prstGeom prst="rightArrow">
            <a:avLst/>
          </a:prstGeom>
          <a:solidFill>
            <a:srgbClr val="A9C8DA"/>
          </a:solidFill>
          <a:ln w="12700">
            <a:solidFill>
              <a:srgbClr val="A9C8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784080" y="1920240"/>
            <a:ext cx="1965960" cy="20116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48672" y="2048256"/>
            <a:ext cx="16367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Critic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948672" y="2450592"/>
            <a:ext cx="1636776" cy="1353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완성도 최종 확인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Reflection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31520" y="48006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324A"/>
                </a:solidFill>
              </a:rPr>
              <a:t>이 구조의 장점: 정보 누락, 근거 부족, 위험한 확정 답변을 각각 다른 단계에서 줄일 수 있습니다.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 w="12700">
            <a:solidFill>
              <a:srgbClr val="F7F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011680"/>
          </a:xfrm>
          <a:prstGeom prst="arc">
            <a:avLst/>
          </a:prstGeom>
          <a:noFill/>
          <a:ln w="12700">
            <a:solidFill>
              <a:srgbClr val="CDE7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20040"/>
            <a:ext cx="1097280" cy="1097280"/>
          </a:xfrm>
          <a:prstGeom prst="rect">
            <a:avLst/>
          </a:prstGeom>
          <a:solidFill>
            <a:srgbClr val="EDF7FC">
              <a:alpha val="9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777240"/>
            <a:ext cx="91440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 지식베이스: 회사 문서를 먼저 확인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237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RAG는 답변 전에 관련 회사 문서를 찾아 참고하는 방식입니다.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50876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636776"/>
            <a:ext cx="30540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지식 문서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0392" y="2039112"/>
            <a:ext cx="3054096" cy="2450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소개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OEM/ODM 서비스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구매대행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중국 시장조사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 대응 절차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물류·통관 안내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필수 정보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FAQ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389120" y="2514600"/>
            <a:ext cx="731520" cy="502920"/>
          </a:xfrm>
          <a:prstGeom prst="rightArrow">
            <a:avLst/>
          </a:prstGeom>
          <a:solidFill>
            <a:srgbClr val="DDF1FB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1783080"/>
            <a:ext cx="2468880" cy="2560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1B9A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05272" y="1911096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결과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605272" y="2313432"/>
            <a:ext cx="2139696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문의와 관련 있는 문서 조각을 찾아 답변 근거로 사용합니다.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0" y="2514600"/>
            <a:ext cx="731520" cy="502920"/>
          </a:xfrm>
          <a:prstGeom prst="rightArrow">
            <a:avLst/>
          </a:prstGeom>
          <a:solidFill>
            <a:srgbClr val="DDF1FB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1783080"/>
            <a:ext cx="2377440" cy="256032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00032" y="1911096"/>
            <a:ext cx="20482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생성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400032" y="2313432"/>
            <a:ext cx="2048256" cy="19019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추측이 아니라 회사 서비스 범위와 상담 기준에 맞춰 답합니다.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 w="12700">
            <a:solidFill>
              <a:srgbClr val="F7F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011680"/>
          </a:xfrm>
          <a:prstGeom prst="arc">
            <a:avLst/>
          </a:prstGeom>
          <a:noFill/>
          <a:ln w="12700">
            <a:solidFill>
              <a:srgbClr val="CDE7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20040"/>
            <a:ext cx="1097280" cy="1097280"/>
          </a:xfrm>
          <a:prstGeom prst="rect">
            <a:avLst/>
          </a:prstGeom>
          <a:solidFill>
            <a:srgbClr val="EDF7FC">
              <a:alpha val="9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777240"/>
            <a:ext cx="91440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Reflection과 Risk 검토: 안전한 답변 만들기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237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무역 상담에서는 친절함보다 확정하지 않는 안전한 표현이 중요합니다.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463040"/>
            <a:ext cx="49377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4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591056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4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답변 예시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0392" y="1993392"/>
            <a:ext cx="4608576" cy="2496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무조건 가능합니다.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통관 보장됩니다.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반드시 환불됩니다.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납기는 확정입니다.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493776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1B9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591056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 후 답변 예시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65392" y="1993392"/>
            <a:ext cx="4608576" cy="2496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공급처 확인 후 안내드릴 수 있습니다.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품목과 서류 확인이 필요합니다.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증빙과 거래 조건 확인 후 검토합니다.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확인 후 진행 여부를 안내드립니다.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14400" y="51206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24A"/>
                </a:solidFill>
              </a:rPr>
              <a:t>Risk Agent가 위험 표현을 줄이고, Critic Agent가 마지막으로 다시 확인합니다.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 w="12700">
            <a:solidFill>
              <a:srgbClr val="F7F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011680"/>
          </a:xfrm>
          <a:prstGeom prst="arc">
            <a:avLst/>
          </a:prstGeom>
          <a:noFill/>
          <a:ln w="12700">
            <a:solidFill>
              <a:srgbClr val="CDE7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20040"/>
            <a:ext cx="1097280" cy="1097280"/>
          </a:xfrm>
          <a:prstGeom prst="rect">
            <a:avLst/>
          </a:prstGeom>
          <a:solidFill>
            <a:srgbClr val="EDF7FC">
              <a:alpha val="9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777240"/>
            <a:ext cx="91440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화면: 실제 실행 가능한 웹앱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237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FastAPI 기반으로 만들었고, 발표 중 바로 시연할 수 있습니다.</a:t>
            </a:r>
            <a:endParaRPr lang="en-US" sz="1100" dirty="0"/>
          </a:p>
        </p:txBody>
      </p:sp>
      <p:pic>
        <p:nvPicPr>
          <p:cNvPr id="9" name="Image 0" descr="D:/Codex/tradecare-agent/paper/screenshots/app_demo_o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6858000" cy="4297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818120" y="141732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82712" y="1545336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화면에서 확인 가능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982712" y="1947672"/>
            <a:ext cx="332841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 유형, Agent 상태,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질문, AI 답변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818120" y="278892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1B9A7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82712" y="2916936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근거와 검토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982712" y="3319272"/>
            <a:ext cx="332841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확인 정보,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RAG/Reflection 기록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818120" y="4160520"/>
            <a:ext cx="3657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982712" y="4288536"/>
            <a:ext cx="3328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홈페이지 연동 방향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82712" y="4690872"/>
            <a:ext cx="3328416" cy="4846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iframe 또는 채팅 위젯 방식으로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홈페이지에 연결 가능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 w="12700">
            <a:solidFill>
              <a:srgbClr val="F7F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011680"/>
          </a:xfrm>
          <a:prstGeom prst="arc">
            <a:avLst/>
          </a:prstGeom>
          <a:noFill/>
          <a:ln w="12700">
            <a:solidFill>
              <a:srgbClr val="CDE7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20040"/>
            <a:ext cx="1097280" cy="1097280"/>
          </a:xfrm>
          <a:prstGeom prst="rect">
            <a:avLst/>
          </a:prstGeom>
          <a:solidFill>
            <a:srgbClr val="EDF7FC">
              <a:alpha val="9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777240"/>
            <a:ext cx="91440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시나리오: 15% 파손 불량 대응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237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고객 불만을 바로 환불 답변으로 처리하지 않고, 증빙과 조건을 먼저 확인합니다.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600200"/>
            <a:ext cx="32004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728216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1단계: 접수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6112" y="2130552"/>
            <a:ext cx="2871216" cy="1856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고객: 제품 15%가 파손됐는데 어떻게 해야 하나요?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Intake Agent가 불량 대응 문의로 분류합니다.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80560" y="1600200"/>
            <a:ext cx="32004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1B9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728216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2단계: 확인 정보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5152" y="2130552"/>
            <a:ext cx="2871216" cy="1856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불량 사진/영상, 총수량, 불량수량, 주문 기록, 수령일, 검수 이력을 요청합니다.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0" y="1600200"/>
            <a:ext cx="32004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1728216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3단계: 안전한 답변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94192" y="2130552"/>
            <a:ext cx="2871216" cy="1856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공급처와 증빙 확인 후 클레임 협의가 필요하다고 안내합니다.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 w="12700">
            <a:solidFill>
              <a:srgbClr val="F7F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011680"/>
          </a:xfrm>
          <a:prstGeom prst="arc">
            <a:avLst/>
          </a:prstGeom>
          <a:noFill/>
          <a:ln w="12700">
            <a:solidFill>
              <a:srgbClr val="CDE7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20040"/>
            <a:ext cx="1097280" cy="1097280"/>
          </a:xfrm>
          <a:prstGeom prst="rect">
            <a:avLst/>
          </a:prstGeom>
          <a:solidFill>
            <a:srgbClr val="EDF7FC">
              <a:alpha val="9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777240"/>
            <a:ext cx="91440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데이터: 30개 테스트 사례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237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실제 중한무역 상담에서 자주 나오는 문의 유형으로 평가했습니다.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033"/>
                </a:solidFill>
              </a:rPr>
              <a:t>OEM/ODM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71800" y="1444752"/>
            <a:ext cx="3017520" cy="228600"/>
          </a:xfrm>
          <a:prstGeom prst="rect">
            <a:avLst/>
          </a:prstGeom>
          <a:solidFill>
            <a:srgbClr val="2377B7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1417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</a:rPr>
              <a:t>6개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033"/>
                </a:solidFill>
              </a:rPr>
              <a:t>구매대행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971800" y="2039112"/>
            <a:ext cx="3017520" cy="228600"/>
          </a:xfrm>
          <a:prstGeom prst="rect">
            <a:avLst/>
          </a:prstGeom>
          <a:solidFill>
            <a:srgbClr val="2377B7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2011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</a:rPr>
              <a:t>6개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033"/>
                </a:solidFill>
              </a:rPr>
              <a:t>시장조사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971800" y="2633472"/>
            <a:ext cx="2514600" cy="228600"/>
          </a:xfrm>
          <a:prstGeom prst="rect">
            <a:avLst/>
          </a:prstGeom>
          <a:solidFill>
            <a:srgbClr val="1B9A78"/>
          </a:solidFill>
          <a:ln w="12700">
            <a:solidFill>
              <a:srgbClr val="1B9A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606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</a:rPr>
              <a:t>5개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033"/>
                </a:solidFill>
              </a:rPr>
              <a:t>불량대응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971800" y="3227832"/>
            <a:ext cx="2514600" cy="228600"/>
          </a:xfrm>
          <a:prstGeom prst="rect">
            <a:avLst/>
          </a:prstGeom>
          <a:solidFill>
            <a:srgbClr val="1B9A78"/>
          </a:solidFill>
          <a:ln w="12700">
            <a:solidFill>
              <a:srgbClr val="1B9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200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</a:rPr>
              <a:t>5개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3794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033"/>
                </a:solidFill>
              </a:rPr>
              <a:t>물류/통관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971800" y="3822192"/>
            <a:ext cx="2514600" cy="228600"/>
          </a:xfrm>
          <a:prstGeom prst="rect">
            <a:avLst/>
          </a:prstGeom>
          <a:solidFill>
            <a:srgbClr val="1B9A78"/>
          </a:solidFill>
          <a:ln w="12700">
            <a:solidFill>
              <a:srgbClr val="1B9A7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3794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</a:rPr>
              <a:t>5개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02033"/>
                </a:solidFill>
              </a:rPr>
              <a:t>일반/범위 외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971800" y="4416552"/>
            <a:ext cx="1508760" cy="228600"/>
          </a:xfrm>
          <a:prstGeom prst="rect">
            <a:avLst/>
          </a:prstGeom>
          <a:solidFill>
            <a:srgbClr val="1B9A78"/>
          </a:solidFill>
          <a:ln w="12700">
            <a:solidFill>
              <a:srgbClr val="1B9A7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43891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A"/>
                </a:solidFill>
              </a:rPr>
              <a:t>3개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406640" y="1554480"/>
            <a:ext cx="38862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71232" y="1682496"/>
            <a:ext cx="35570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71232" y="2084832"/>
            <a:ext cx="3557016" cy="20848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사례마다 답변에 꼭 들어가야 할 정보 항목을 정했습니다.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제품 사진, 사양, 수량, 로고 파일, 납기, 배송지, 주문 기록, 검수 여부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 w="12700">
            <a:solidFill>
              <a:srgbClr val="F7F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011680"/>
          </a:xfrm>
          <a:prstGeom prst="arc">
            <a:avLst/>
          </a:prstGeom>
          <a:noFill/>
          <a:ln w="12700">
            <a:solidFill>
              <a:srgbClr val="CDE7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20040"/>
            <a:ext cx="1097280" cy="1097280"/>
          </a:xfrm>
          <a:prstGeom prst="rect">
            <a:avLst/>
          </a:prstGeom>
          <a:solidFill>
            <a:srgbClr val="EDF7FC">
              <a:alpha val="9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777240"/>
            <a:ext cx="91440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품질 비교: 무엇이 더 나아졌나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237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일반 답변, RAG만 사용한 답변, TradeCare-Agent 답변을 비교했습니다.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600200"/>
            <a:ext cx="32461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5A6B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728216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B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GPT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0392" y="2130552"/>
            <a:ext cx="2916936" cy="22677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자연스럽게 답하지만,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정보를 빠뜨리거나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너무 확정적으로 말할 수 있습니다.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80560" y="1600200"/>
            <a:ext cx="32461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728216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GPT + RAG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5152" y="2130552"/>
            <a:ext cx="2916936" cy="22677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문서를 참고해서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근거성은 좋아지지만,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표현을 끝까지 점검하기는 어렵습니다.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75320" y="1600200"/>
            <a:ext cx="32461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1B9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9912" y="1728216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TradeCare-Agent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39912" y="2130552"/>
            <a:ext cx="2916936" cy="22677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분류, 문서 검색,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정보 요청,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 표현 검토를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 수행합니다.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 w="12700">
            <a:solidFill>
              <a:srgbClr val="F7F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011680"/>
          </a:xfrm>
          <a:prstGeom prst="arc">
            <a:avLst/>
          </a:prstGeom>
          <a:noFill/>
          <a:ln w="12700">
            <a:solidFill>
              <a:srgbClr val="CDE7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20040"/>
            <a:ext cx="1097280" cy="1097280"/>
          </a:xfrm>
          <a:prstGeom prst="rect">
            <a:avLst/>
          </a:prstGeom>
          <a:solidFill>
            <a:srgbClr val="EDF7FC">
              <a:alpha val="9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777240"/>
            <a:ext cx="91440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예상 질문 20개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237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실제 홈페이지 상담에 활용할 수 있는 질문과 답변 핵심을 정리했습니다.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3063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1. 브랜드 제품 제작 가능 여부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1920240"/>
            <a:ext cx="3063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2. 제품 사진만 있는 경우 제작 확인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3063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3. MOQ와 샘플 제작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3063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4. 로고·패키지 제작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429000"/>
            <a:ext cx="3063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5. 중국 제품 구매대행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3931920"/>
            <a:ext cx="3063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6. 시장조사와 공급처 조사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14800" y="1417320"/>
            <a:ext cx="3063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7. 불량 대응과 증빙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0" y="1920240"/>
            <a:ext cx="3063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8. 배송·통관 문의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114800" y="2423160"/>
            <a:ext cx="3063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9. 계약서와 거래 조건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114800" y="2926080"/>
            <a:ext cx="3063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10. 결제 방식과 위험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0" y="3429000"/>
            <a:ext cx="3063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11. 인증·라벨·서류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0" y="3931920"/>
            <a:ext cx="3063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12. 클레임 처리 절차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498080" y="1417320"/>
            <a:ext cx="3063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13. 의류뿐 아니라 소상품 소싱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498080" y="1920240"/>
            <a:ext cx="3063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14. 납기와 운송 방식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98080" y="2423160"/>
            <a:ext cx="3063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15. 견적 필수 정보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498080" y="2926080"/>
            <a:ext cx="306324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02033"/>
                </a:solidFill>
              </a:rPr>
              <a:t>16. 담당자 확인 필요 사항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2960" y="512064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324A"/>
                </a:solidFill>
              </a:rPr>
              <a:t>목적: 발표용 예시뿐 아니라 향후 FAQ와 실제 상담 데이터로 확장하기 위함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 w="12700">
            <a:solidFill>
              <a:srgbClr val="F7F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011680"/>
          </a:xfrm>
          <a:prstGeom prst="arc">
            <a:avLst/>
          </a:prstGeom>
          <a:noFill/>
          <a:ln w="12700">
            <a:solidFill>
              <a:srgbClr val="CDE7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20040"/>
            <a:ext cx="1097280" cy="1097280"/>
          </a:xfrm>
          <a:prstGeom prst="rect">
            <a:avLst/>
          </a:prstGeom>
          <a:solidFill>
            <a:srgbClr val="EDF7FC">
              <a:alpha val="9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777240"/>
            <a:ext cx="91440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결과: 필수 정보 포함률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237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답변이 필요한 정보를 얼마나 잘 요청했는지 비교했습니다.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033"/>
                </a:solidFill>
              </a:rPr>
              <a:t>Baseline LLM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063240" y="1874520"/>
            <a:ext cx="788030" cy="292608"/>
          </a:xfrm>
          <a:prstGeom prst="rect">
            <a:avLst/>
          </a:prstGeom>
          <a:solidFill>
            <a:srgbClr val="5A6B7A"/>
          </a:solidFill>
          <a:ln w="12700">
            <a:solidFill>
              <a:srgbClr val="5A6B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0" y="1828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0.139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033"/>
                </a:solidFill>
              </a:rPr>
              <a:t>Baseline RAG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063240" y="2743200"/>
            <a:ext cx="3843772" cy="292608"/>
          </a:xfrm>
          <a:prstGeom prst="rect">
            <a:avLst/>
          </a:prstGeom>
          <a:solidFill>
            <a:srgbClr val="63B4EA"/>
          </a:solidFill>
          <a:ln w="12700">
            <a:solidFill>
              <a:srgbClr val="63B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0" y="2697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</a:rPr>
              <a:t>0.678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35661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2033"/>
                </a:solidFill>
              </a:rPr>
              <a:t>TradeCare-Agent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063240" y="3611880"/>
            <a:ext cx="5482194" cy="292608"/>
          </a:xfrm>
          <a:prstGeom prst="rect">
            <a:avLst/>
          </a:prstGeom>
          <a:solidFill>
            <a:srgbClr val="2377B7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3566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377B7"/>
                </a:solidFill>
              </a:rPr>
              <a:t>0.967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89204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324A"/>
                </a:solidFill>
              </a:rPr>
              <a:t>TradeCare-Agent는 단순한 답변보다 필수 확인 정보를 더 빠짐없이 요청했습니다.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 w="12700">
            <a:solidFill>
              <a:srgbClr val="F7F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011680"/>
          </a:xfrm>
          <a:prstGeom prst="arc">
            <a:avLst/>
          </a:prstGeom>
          <a:noFill/>
          <a:ln w="12700">
            <a:solidFill>
              <a:srgbClr val="CDE7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20040"/>
            <a:ext cx="1097280" cy="1097280"/>
          </a:xfrm>
          <a:prstGeom prst="rect">
            <a:avLst/>
          </a:prstGeom>
          <a:solidFill>
            <a:srgbClr val="EDF7FC">
              <a:alpha val="9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777240"/>
            <a:ext cx="91440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한계와 윤리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237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AI는 보조자이며, 최종 결정자는 사람이 되어야 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463040"/>
            <a:ext cx="50749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591056"/>
            <a:ext cx="4745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한계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0392" y="1993392"/>
            <a:ext cx="4745736" cy="2542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법률·통관·인증 최종 판단은 불가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공급처 확인 전 가격·MOQ·납기 확정 불가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환불·보상은 거래 조건과 증빙 확인 필요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자료의 개인정보 보호 필요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0" y="1463040"/>
            <a:ext cx="50749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1B9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65392" y="1591056"/>
            <a:ext cx="47457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보완 원칙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65392" y="1993392"/>
            <a:ext cx="4745736" cy="2542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RAG로 회사 기준에 맞게 답변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Risk/Reflection으로 위험 표현 점검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사안은 담당자에게 연결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데이터와 프롬프트를 공개해 재현성 확보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 w="12700">
            <a:solidFill>
              <a:srgbClr val="F7F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011680"/>
          </a:xfrm>
          <a:prstGeom prst="arc">
            <a:avLst/>
          </a:prstGeom>
          <a:noFill/>
          <a:ln w="12700">
            <a:solidFill>
              <a:srgbClr val="CDE7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20040"/>
            <a:ext cx="1097280" cy="1097280"/>
          </a:xfrm>
          <a:prstGeom prst="rect">
            <a:avLst/>
          </a:prstGeom>
          <a:solidFill>
            <a:srgbClr val="EDF7FC">
              <a:alpha val="9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777240"/>
            <a:ext cx="91440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실제 배포 가능한 상담 보조 시스템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941832"/>
            <a:ext cx="11155680" cy="0"/>
          </a:xfrm>
          <a:prstGeom prst="line">
            <a:avLst/>
          </a:prstGeom>
          <a:noFill/>
          <a:ln w="12700">
            <a:solidFill>
              <a:srgbClr val="2377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4241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A"/>
                </a:solidFill>
              </a:rPr>
              <a:t>수업의 Agent 구조를 실제 중한무역 고객센터 문제에 적용했습니다.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1463040"/>
            <a:ext cx="32461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2377B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0392" y="1591056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7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Multi-Agent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50392" y="1993392"/>
            <a:ext cx="2916936" cy="2450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문의 분류, 문서 검색, 답변 작성, 위험 검토, 최종 확인을 역할별로 분리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480560" y="1463040"/>
            <a:ext cx="32461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1B9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591056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RAG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5152" y="1993392"/>
            <a:ext cx="2916936" cy="2450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윤항무역 서비스 범위와 상담 기준 문서를 검색해 답변 근거로 사용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75320" y="1463040"/>
            <a:ext cx="32461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26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39912" y="1591056"/>
            <a:ext cx="29169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B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Reflection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39912" y="1993392"/>
            <a:ext cx="2916936" cy="2450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답변이 안전하고 충분한지 마지막에 다시 점검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5074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2324A"/>
                </a:solidFill>
              </a:rPr>
              <a:t>산출물: 웹앱, GitHub 코드, 한국어/영어 논문, 발표 PPT, 발표문, 평가 데이터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BFE"/>
          </a:solidFill>
          <a:ln w="12700">
            <a:solidFill>
              <a:srgbClr val="F7FB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937760"/>
            <a:ext cx="2926080" cy="2011680"/>
          </a:xfrm>
          <a:prstGeom prst="arc">
            <a:avLst/>
          </a:prstGeom>
          <a:noFill/>
          <a:ln w="12700">
            <a:solidFill>
              <a:srgbClr val="CDE7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320040"/>
            <a:ext cx="1097280" cy="1097280"/>
          </a:xfrm>
          <a:prstGeom prst="rect">
            <a:avLst/>
          </a:prstGeom>
          <a:solidFill>
            <a:srgbClr val="EDF7FC">
              <a:alpha val="9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64240" y="777240"/>
            <a:ext cx="914400" cy="914400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CDE7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402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377B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2324A"/>
                </a:solidFill>
              </a:rPr>
              <a:t>Q&amp;A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A"/>
                </a:solidFill>
              </a:rPr>
              <a:t>시연 주소: http://127.0.0.1:8000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Yoon Hang Trade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TradeCare-Agent</dc:title>
  <dc:subject>TradeCare-Agent</dc:subject>
  <dc:creator>TradeCare Team</dc:creator>
  <cp:lastModifiedBy>TradeCare Team</cp:lastModifiedBy>
  <cp:revision>1</cp:revision>
  <dcterms:created xsi:type="dcterms:W3CDTF">2026-06-05T13:22:11Z</dcterms:created>
  <dcterms:modified xsi:type="dcterms:W3CDTF">2026-06-05T13:22:11Z</dcterms:modified>
</cp:coreProperties>
</file>