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8" r:id="rId19"/>
    <p:sldId id="261" r:id="rId12"/>
    <p:sldId id="262" r:id="rId13"/>
    <p:sldId id="263" r:id="rId14"/>
    <p:sldId id="264" r:id="rId15"/>
    <p:sldId id="269" r:id="rId20"/>
    <p:sldId id="270" r:id="rId21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6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중한무역 고객센터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Multi-Agent RAG with Reflection for B2B Trade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6400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7222D"/>
                </a:solidFill>
                <a:latin typeface="Malgun Gothic"/>
              </a:rPr>
              <a:t>문의 분류 → 지식 검색 → 답변 생성 → 리스크 검토 → 자기수정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5852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57484"/>
                </a:solidFill>
                <a:latin typeface="Malgun Gothic"/>
              </a:rPr>
              <a:t>실제 실행 가능한 웹앱과 30개 케이스 평가까지 포함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057400"/>
            <a:ext cx="1234440" cy="310896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71815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745E"/>
                </a:solidFill>
                <a:latin typeface="Malgun Gothic"/>
              </a:rPr>
              <a:t>Multi-Agent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057400"/>
            <a:ext cx="1234440" cy="310896"/>
          </a:xfrm>
          <a:prstGeom prst="roundRect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F5D9C"/>
                </a:solidFill>
                <a:latin typeface="Malgun Gothic"/>
              </a:rP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2057400"/>
            <a:ext cx="1234440" cy="310896"/>
          </a:xfrm>
          <a:prstGeom prst="roundRect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0696" y="2121408"/>
            <a:ext cx="11612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B8671F"/>
                </a:solidFill>
                <a:latin typeface="Malgun Gothic"/>
              </a:rPr>
              <a:t>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60604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1" y="2752344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결과물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3136392"/>
            <a:ext cx="311810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FastAPI Web App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GitHub Repository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PPT / 논문 / 평가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745E"/>
                </a:solidFill>
                <a:latin typeface="Malgun Gothic"/>
              </a:rPr>
              <a:t>Demo: http://127.0.0.1:8000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문제 배경: 무역 상담은 짧지만 복잡합니다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고객 질문 하나에 제품, 공급처, 물류, 통관, 책임 문제가 함께 들어옵니다.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2/12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057400"/>
            <a:ext cx="1005840" cy="100584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불완전한 문의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2057400"/>
            <a:ext cx="1005840" cy="100584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근거 부족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2057400"/>
            <a:ext cx="1005840" cy="1005840"/>
          </a:xfrm>
          <a:prstGeom prst="ellipse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단정 답변 위험</a:t>
            </a:r>
          </a:p>
        </p:txBody>
      </p:sp>
      <p:sp>
        <p:nvSpPr>
          <p:cNvPr id="16" name="Oval 15"/>
          <p:cNvSpPr/>
          <p:nvPr/>
        </p:nvSpPr>
        <p:spPr>
          <a:xfrm>
            <a:off x="6903720" y="2057400"/>
            <a:ext cx="1005840" cy="100584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반복 상담</a:t>
            </a:r>
          </a:p>
        </p:txBody>
      </p:sp>
      <p:sp>
        <p:nvSpPr>
          <p:cNvPr id="19" name="Oval 18"/>
          <p:cNvSpPr/>
          <p:nvPr/>
        </p:nvSpPr>
        <p:spPr>
          <a:xfrm>
            <a:off x="8915400" y="2057400"/>
            <a:ext cx="1005840" cy="100584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203704"/>
            <a:ext cx="1005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7296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담당자 부담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74519" y="2560320"/>
            <a:ext cx="777241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8620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9788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09560" y="2560320"/>
            <a:ext cx="77724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예시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“1688 구매대행 가능한가요?”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“불량 15%인데 환불되나요?”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1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필요 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URL, 옵션, 수량, 배송지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증빙, 검품 기록, 주문 자료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1605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1" y="4306824"/>
            <a:ext cx="2962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리스크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690872"/>
            <a:ext cx="288950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가격·납기·통관·환불 보장 금지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Task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자연어 문의를 ‘실무 상담 가능한 구조’로 변환합니다.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3/12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한국어 고객 문의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제품/구매/불량/통관 질문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정보가 부족한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Agent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Intent 분류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RAG 검색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필수 정보 체크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Risk &amp; Critic 검토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920240"/>
            <a:ext cx="29718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2066544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450592"/>
            <a:ext cx="256946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고객 응답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누락 정보 리스트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근거 trace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담당자 확인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3520440"/>
            <a:ext cx="64008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3520440"/>
            <a:ext cx="64008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역할을 분리해 상담 품질을 통제합니다.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분류/누락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0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RAG 검색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답변 초안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22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위험 표현 수정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08592" y="2761488"/>
            <a:ext cx="310896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9264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395728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  <a:latin typeface="Malgun Gothic"/>
              </a:rPr>
              <a:t>Critic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7889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484"/>
                </a:solidFill>
                <a:latin typeface="Malgun Gothic"/>
              </a:rPr>
              <a:t>Reflection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43484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58114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단일 LLM 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4965192"/>
            <a:ext cx="43525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처리 단계가 분리되어 평가와 디버깅이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434840"/>
            <a:ext cx="4754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458114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과제 요건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965192"/>
            <a:ext cx="43525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Multi-Agent + RAG + Reflection을 명확히 충족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RAG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회사 서비스 범위와 업무 절차를 검색해 답변합니다.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8404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511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Knowledge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3438144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Company Profile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OEM/ODM Service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Purchasing Agency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Yiwu Market Research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Defect Claim Process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Logistics / Customs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Quotation Required Fields</a:t>
            </a:r>
          </a:p>
          <a:p>
            <a:pPr>
              <a:spcAft>
                <a:spcPts val="400"/>
              </a:spcAft>
              <a:defRPr sz="11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FAQ</a:t>
            </a:r>
          </a:p>
        </p:txBody>
      </p:sp>
      <p:sp>
        <p:nvSpPr>
          <p:cNvPr id="10" name="Chevron 9"/>
          <p:cNvSpPr/>
          <p:nvPr/>
        </p:nvSpPr>
        <p:spPr>
          <a:xfrm>
            <a:off x="4983480" y="2971800"/>
            <a:ext cx="1234440" cy="731520"/>
          </a:xfrm>
          <a:prstGeom prst="chevron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3218688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Retrieve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828800"/>
            <a:ext cx="43891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5431" y="1975104"/>
            <a:ext cx="40599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Grounded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2359152"/>
            <a:ext cx="3986783" cy="33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구매대행: URL/옵션/배송지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불량대응: 사진/영상/주문자료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통관: 재질/HS Code/인증 여부 요청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회사 업무 범위 밖 약속 방지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3337560"/>
            <a:ext cx="301752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36208" y="3337560"/>
            <a:ext cx="393192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5E73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C1F36"/>
                </a:solidFill>
                <a:latin typeface="Malgun Gothic"/>
              </a:rPr>
              <a:t>RAG 지식 베이스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612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05863"/>
                </a:solidFill>
                <a:latin typeface="Malgun Gothic"/>
              </a:rPr>
              <a:t>답변 생성 전에 문서화된 윤항무역 지식을 먼저 검색합니다.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28016"/>
          <a:lstStyle/>
          <a:p>
            <a:pPr algn="ctr">
              <a:defRPr sz="1700" b="1">
                <a:solidFill>
                  <a:srgbClr val="1C5B84"/>
                </a:solidFill>
                <a:latin typeface="Malgun Gothic"/>
              </a:defRPr>
            </a:pPr>
            <a:r>
              <a:rPr>
                <a:latin typeface="Malgun Gothic"/>
              </a:rPr>
              <a:t>출처 파일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data/knowledge_base/*.md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company_profile.md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services_oem_odm.md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services_purchasing_agent.md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defect_claim_process.md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logistics_customs_basic.md, faq.md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83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28016"/>
          <a:lstStyle/>
          <a:p>
            <a:pPr algn="ctr">
              <a:defRPr sz="1700" b="1">
                <a:solidFill>
                  <a:srgbClr val="1D785A"/>
                </a:solidFill>
                <a:latin typeface="Malgun Gothic"/>
              </a:defRPr>
            </a:pPr>
            <a:r>
              <a:rPr>
                <a:latin typeface="Malgun Gothic"/>
              </a:rPr>
              <a:t>수집/정리 기준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윤항무역 서비스 범위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홈페이지 서비스 안내 정보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운영자가 제공한 상담 규칙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업무 유형별 필수 확인 정보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확인 전 단가, MOQ, 환불, 통관 확정 금지 규칙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78308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46304" tIns="128016"/>
          <a:lstStyle/>
          <a:p>
            <a:pPr algn="ctr">
              <a:defRPr sz="1700" b="1">
                <a:solidFill>
                  <a:srgbClr val="925324"/>
                </a:solidFill>
                <a:latin typeface="Malgun Gothic"/>
              </a:defRPr>
            </a:pPr>
            <a:r>
              <a:rPr>
                <a:latin typeface="Malgun Gothic"/>
              </a:rPr>
              <a:t>단일 LLM 대비 강점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회사 정책 기반 답변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업무별 누락 정보 요청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과장된 가능 여부 답변 감소</a:t>
            </a:r>
          </a:p>
          <a:p>
            <a:pPr>
              <a:spcAft>
                <a:spcPts val="300"/>
              </a:spcAft>
              <a:defRPr sz="125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검색 후 Risk/Critic 검토 수행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315968"/>
            <a:ext cx="11018520" cy="1234440"/>
          </a:xfrm>
          <a:prstGeom prst="roundRect">
            <a:avLst/>
          </a:prstGeom>
          <a:solidFill>
            <a:srgbClr val="E8F0F7"/>
          </a:solidFill>
          <a:ln>
            <a:solidFill>
              <a:srgbClr val="BEC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28016"/>
          <a:lstStyle/>
          <a:p>
            <a:pPr algn="ctr">
              <a:defRPr sz="1500" b="1">
                <a:solidFill>
                  <a:srgbClr val="0C1F36"/>
                </a:solidFill>
                <a:latin typeface="Malgun Gothic"/>
              </a:defRPr>
            </a:pPr>
            <a:r>
              <a:rPr>
                <a:latin typeface="Malgun Gothic"/>
              </a:rPr>
              <a:t>예시 검색 흐름</a:t>
            </a:r>
          </a:p>
          <a:p>
            <a:pPr>
              <a:defRPr sz="130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OEM/ODM 문의 -&gt; services_oem_odm.md + quotation_required_fields.md 검색 -&gt; 사진, 사양, 수량, 로고/패키지, 납기를 요청하고 확정 표현을 피함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80760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B5866"/>
                </a:solidFill>
                <a:latin typeface="Malgun Gothic"/>
              </a:rPr>
              <a:t>아키텍처 정당성: Retrieval은 근거를 제공하고, Risk는 위험한 확정 표현을 제거하며, Critic은 답변이 검색된 제약을 따르는지 검토합니다.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Reflection &amp; Risk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친절한 답변보다 안전한 답변이 중요합니다.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6/12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4654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03E3E"/>
                </a:solidFill>
                <a:latin typeface="Malgun Gothic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458114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“무조건 가능합니다.”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“통관 보장됩니다.”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“반드시 환불됩니다.”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“납기는 7일이면 됩니다.”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828800"/>
            <a:ext cx="49834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975104"/>
            <a:ext cx="4654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2359152"/>
            <a:ext cx="4581144" cy="267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공급처 확인 후 가능 여부 안내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품목·서류·인증 요건 확인 필요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증빙과 거래 조건 확인 후 클레임 검토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제품 자료 확인 후 예상 납기 안내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429000"/>
            <a:ext cx="502920" cy="0"/>
          </a:xfrm>
          <a:prstGeom prst="line">
            <a:avLst/>
          </a:prstGeom>
          <a:ln w="22860">
            <a:solidFill>
              <a:srgbClr val="B86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39512" y="2880360"/>
            <a:ext cx="1097280" cy="310896"/>
          </a:xfrm>
          <a:prstGeom prst="roundRect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944368"/>
            <a:ext cx="1024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B8671F"/>
                </a:solidFill>
                <a:latin typeface="Malgun Gothic"/>
              </a:rPr>
              <a:t>Critic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Web App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상담, Agent 상태, 필수 정보, Trace를 한 화면에서 확인합니다.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9339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17222D"/>
                </a:solidFill>
                <a:latin typeface="Malgun Gothic"/>
              </a:rPr>
              <a:t>중한무역 고객센터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1993392"/>
            <a:ext cx="1143000" cy="310896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74936" y="2057400"/>
            <a:ext cx="106984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2745E"/>
                </a:solidFill>
                <a:latin typeface="Malgun Gothic"/>
              </a:rPr>
              <a:t>API 연결됨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514600"/>
            <a:ext cx="1874519" cy="3337560"/>
          </a:xfrm>
          <a:prstGeom prst="rect">
            <a:avLst/>
          </a:prstGeom>
          <a:solidFill>
            <a:srgbClr val="E7EFF9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7222D"/>
                </a:solidFill>
                <a:latin typeface="Malgun Gothic"/>
              </a:rPr>
              <a:t>상담 유형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306324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9576" y="312724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OEM/ODM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47472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9576" y="353872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구매대행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5568" y="388620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" y="395020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시장조사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429768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9576" y="436168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불량대응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4709160"/>
            <a:ext cx="1417320" cy="2926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" y="4773168"/>
            <a:ext cx="12344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17222D"/>
                </a:solidFill>
                <a:latin typeface="Malgun Gothic"/>
              </a:rPr>
              <a:t>통관/인증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514600"/>
            <a:ext cx="4846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27889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2745E"/>
                </a:solidFill>
                <a:latin typeface="Malgun Gothic"/>
              </a:rPr>
              <a:t>고객: 제품 중 15%가 파손됐어요.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310128"/>
            <a:ext cx="4297680" cy="1371600"/>
          </a:xfrm>
          <a:prstGeom prst="roundRect">
            <a:avLst/>
          </a:prstGeom>
          <a:solidFill>
            <a:srgbClr val="E7EFF9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3520440"/>
            <a:ext cx="3794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7222D"/>
                </a:solidFill>
                <a:latin typeface="Malgun Gothic"/>
              </a:rPr>
              <a:t>AI 상담: defect_claim으로 분류하고
사진/수량/주문자료/검품 여부를 요청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514600"/>
            <a:ext cx="2971800" cy="3337560"/>
          </a:xfrm>
          <a:prstGeom prst="rect">
            <a:avLst/>
          </a:prstGeom>
          <a:solidFill>
            <a:srgbClr val="DEF2EB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74320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7222D"/>
                </a:solidFill>
                <a:latin typeface="Malgun Gothic"/>
              </a:rPr>
              <a:t>Agent 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2004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7222D"/>
                </a:solidFill>
                <a:latin typeface="Malgun Gothic"/>
              </a:rPr>
              <a:t>Intent: defect_claim
Critic: 5/5
LLM: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9768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2745E"/>
                </a:solidFill>
                <a:latin typeface="Malgun Gothic"/>
              </a:rPr>
              <a:t>RAG / Reflection trace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1737360"/>
            <a:ext cx="3749039" cy="46177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73568" y="1810512"/>
            <a:ext cx="3520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197510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745E"/>
                </a:solidFill>
                <a:latin typeface="Malgun Gothic"/>
              </a:rPr>
              <a:t>Web App Screenshot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5769864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57484"/>
                </a:solidFill>
                <a:latin typeface="Malgun Gothic"/>
              </a:rPr>
              <a:t>실제 실행 화면 캡처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2255697"/>
            <a:ext cx="3401568" cy="1898549"/>
          </a:xfrm>
          <a:prstGeom prst="rect">
            <a:avLst/>
          </a:prstGeom>
          <a:ln w="12700">
            <a:solidFill>
              <a:srgbClr val="B4C3D2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Live Demo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2분 데모로 Agent의 작동 근거를 보여줍니다.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8/12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앱 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앱 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http://127.0.0.1:8000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API 연결 상태 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240280"/>
            <a:ext cx="1965960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26280" y="1920240"/>
            <a:ext cx="685800" cy="685800"/>
          </a:xfrm>
          <a:prstGeom prst="ellipse">
            <a:avLst/>
          </a:prstGeom>
          <a:solidFill>
            <a:srgbClr val="E7EFF9"/>
          </a:solidFill>
          <a:ln>
            <a:solidFill>
              <a:srgbClr val="2F5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F5D9C"/>
                </a:solidFill>
                <a:latin typeface="Malgun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질문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질문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불량 15% 파손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Trace 옵션 켜기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2240280"/>
            <a:ext cx="1965959" cy="0"/>
          </a:xfrm>
          <a:prstGeom prst="line">
            <a:avLst/>
          </a:prstGeom>
          <a:ln w="22860">
            <a:solidFill>
              <a:srgbClr val="657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0" y="1920240"/>
            <a:ext cx="685800" cy="685800"/>
          </a:xfrm>
          <a:prstGeom prst="ellipse">
            <a:avLst/>
          </a:prstGeom>
          <a:solidFill>
            <a:srgbClr val="FAEFE1"/>
          </a:solidFill>
          <a:ln>
            <a:solidFill>
              <a:srgbClr val="B8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066544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715768"/>
            <a:ext cx="1325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108960"/>
            <a:ext cx="26517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255264"/>
            <a:ext cx="23225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결과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3639312"/>
            <a:ext cx="224942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intent / missing fields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RAG evidence / critic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745E"/>
                </a:solidFill>
                <a:latin typeface="Malgun Gothic"/>
              </a:rPr>
              <a:t>핵심 메시지: 답변뿐 아니라 Agent가 왜 그렇게 답했는지 trace로 설명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526280"/>
            <a:ext cx="3429000" cy="1005840"/>
          </a:xfrm>
          <a:prstGeom prst="roundRect">
            <a:avLst/>
          </a:prstGeom>
          <a:solidFill>
            <a:srgbClr val="DEF2EB"/>
          </a:solidFill>
          <a:ln>
            <a:solidFill>
              <a:srgbClr val="12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4736592"/>
            <a:ext cx="2999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7222D"/>
                </a:solidFill>
                <a:latin typeface="Malgun Gothic"/>
              </a:rPr>
              <a:t>PPT에서는 캡처 화면을 보여주고,
발표 중에는 로컬 앱을 직접 시연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Benchmark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도메인 task에 맞춘 30개 평가 케이스를 구축했습니다.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9/12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23159"/>
            <a:ext cx="960120" cy="246888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OEM/ODM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3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745E"/>
                </a:solidFill>
                <a:latin typeface="Malgun Gothic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2423159"/>
            <a:ext cx="960120" cy="246888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구매대행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4883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834639"/>
            <a:ext cx="960120" cy="205740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시장조사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8671F"/>
                </a:solidFill>
                <a:latin typeface="Malgun Gothic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2834639"/>
            <a:ext cx="960120" cy="205740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불량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745E"/>
                </a:solidFill>
                <a:latin typeface="Malgun Gothic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834639"/>
            <a:ext cx="960120" cy="205740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물류/통관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5603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5D9C"/>
                </a:solidFill>
                <a:latin typeface="Malgun Gothic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3657599"/>
            <a:ext cx="960120" cy="123444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50292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7222D"/>
                </a:solidFill>
                <a:latin typeface="Malgun Gothic"/>
              </a:rPr>
              <a:t>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383279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8671F"/>
                </a:solidFill>
                <a:latin typeface="Malgun Gothic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1874519"/>
            <a:ext cx="3200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2020824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비교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2404872"/>
            <a:ext cx="2798064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Baseline LLM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Baseline RAG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Proposed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46177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4764024"/>
            <a:ext cx="28712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재현성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5148072"/>
            <a:ext cx="279806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동일 케이스 / 동일 스크립트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5E73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C1F36"/>
                </a:solidFill>
                <a:latin typeface="Malgun Gothic"/>
              </a:rPr>
              <a:t>고객 응대 답변 품질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3385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05863"/>
                </a:solidFill>
                <a:latin typeface="Malgun Gothic"/>
              </a:rPr>
              <a:t>같은 OEM/샘플 제작 문의를 필수 정보 포함률과 위험 표현 통제 기준으로 비교합니다.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44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46304"/>
          <a:lstStyle/>
          <a:p>
            <a:pPr algn="ctr">
              <a:defRPr sz="1800" b="1">
                <a:solidFill>
                  <a:srgbClr val="844E40"/>
                </a:solidFill>
                <a:latin typeface="Malgun Gothic"/>
              </a:defRPr>
            </a:pPr>
            <a:r>
              <a:rPr>
                <a:latin typeface="Malgun Gothic"/>
              </a:rPr>
              <a:t>일반 GPT</a:t>
            </a:r>
          </a:p>
          <a:p>
            <a:pPr>
              <a:spcAft>
                <a:spcPts val="700"/>
              </a:spcAft>
              <a:defRPr sz="1200" b="1">
                <a:solidFill>
                  <a:srgbClr val="3C4652"/>
                </a:solidFill>
                <a:latin typeface="Malgun Gothic"/>
              </a:defRPr>
            </a:pPr>
            <a:r>
              <a:rPr>
                <a:latin typeface="Malgun Gothic"/>
              </a:rPr>
              <a:t>단일 답변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일반적인 OEM 설명 제공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이미지, 사양, 패턴, 수량, 로고/패키지, 배송지를 빠뜨릴 수 있음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공급처 확인 전에도 지나치게 확정적으로 들릴 수 있음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필수 정보 포함 점수: 0.139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46304"/>
          <a:lstStyle/>
          <a:p>
            <a:pPr algn="ctr">
              <a:defRPr sz="1800" b="1">
                <a:solidFill>
                  <a:srgbClr val="2D6797"/>
                </a:solidFill>
                <a:latin typeface="Malgun Gothic"/>
              </a:defRPr>
            </a:pPr>
            <a:r>
              <a:rPr>
                <a:latin typeface="Malgun Gothic"/>
              </a:rPr>
              <a:t>GPT + RAG</a:t>
            </a:r>
          </a:p>
          <a:p>
            <a:pPr>
              <a:spcAft>
                <a:spcPts val="700"/>
              </a:spcAft>
              <a:defRPr sz="1200" b="1">
                <a:solidFill>
                  <a:srgbClr val="3C4652"/>
                </a:solidFill>
                <a:latin typeface="Malgun Gothic"/>
              </a:defRPr>
            </a:pPr>
            <a:r>
              <a:rPr>
                <a:latin typeface="Malgun Gothic"/>
              </a:rPr>
              <a:t>검색 기반 답변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서비스 문서 참고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일부 누락 정보 요청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별도 Risk Agent 없음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Critic Reflection 루프 없음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필수 정보 포함 점수: 0.678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7373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1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28016" tIns="146304"/>
          <a:lstStyle/>
          <a:p>
            <a:pPr algn="ctr">
              <a:defRPr sz="1800" b="1">
                <a:solidFill>
                  <a:srgbClr val="21805C"/>
                </a:solidFill>
                <a:latin typeface="Malgun Gothic"/>
              </a:defRPr>
            </a:pPr>
            <a:r>
              <a:rPr>
                <a:latin typeface="Malgun Gothic"/>
              </a:rPr>
              <a:t>TradeCare Agent</a:t>
            </a:r>
          </a:p>
          <a:p>
            <a:pPr>
              <a:spcAft>
                <a:spcPts val="700"/>
              </a:spcAft>
              <a:defRPr sz="1200" b="1">
                <a:solidFill>
                  <a:srgbClr val="3C4652"/>
                </a:solidFill>
                <a:latin typeface="Malgun Gothic"/>
              </a:defRPr>
            </a:pPr>
            <a:r>
              <a:rPr>
                <a:latin typeface="Malgun Gothic"/>
              </a:rPr>
              <a:t>Multi-Agent + RAG + Reflection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OEM/ODM 의도 분류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회사 업무 규칙 검색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구체적인 접수 체크리스트 요청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MOQ, 샘플비, 납기, 제작 가능 여부를 확인 전 확정하지 않음</a:t>
            </a:r>
          </a:p>
          <a:p>
            <a:pPr>
              <a:spcAft>
                <a:spcPts val="400"/>
              </a:spcAft>
              <a:defRPr sz="1230">
                <a:solidFill>
                  <a:srgbClr val="233041"/>
                </a:solidFill>
                <a:latin typeface="Malgun Gothic"/>
              </a:defRPr>
            </a:pPr>
            <a:r>
              <a:rPr>
                <a:latin typeface="Malgun Gothic"/>
              </a:rPr>
              <a:t>필수 정보 포함 점수: 0.967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5257800"/>
            <a:ext cx="11018520" cy="731520"/>
          </a:xfrm>
          <a:prstGeom prst="roundRect">
            <a:avLst/>
          </a:prstGeom>
          <a:solidFill>
            <a:srgbClr val="E5EFF7"/>
          </a:solidFill>
          <a:ln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350" b="1">
                <a:solidFill>
                  <a:srgbClr val="183046"/>
                </a:solidFill>
                <a:latin typeface="Malgun Gothic"/>
              </a:defRPr>
            </a:pPr>
            <a:r>
              <a:rPr>
                <a:latin typeface="Malgun Gothic"/>
              </a:rPr>
              <a:t>결론: TradeCare Agent는 불완전한 고객 문의를 실행 가능한 접수 체크리스트로 바꾸고, 근거 기반 답변과 확정 표현 방지를 동시에 수행합니다.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4B5E73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3385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0C1F36"/>
                </a:solidFill>
                <a:latin typeface="Malgun Gothic"/>
              </a:rPr>
              <a:t>고객 예상 질문 20개 및 예상 답변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04672"/>
            <a:ext cx="11155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505863"/>
                </a:solidFill>
                <a:latin typeface="Malgun Gothic"/>
              </a:rPr>
              <a:t>질문은 발표용으로 핵심 문제명만 압축하고, 답변은 평가에 필요한 Gold Standard 핵심만 표시했습니다.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133856"/>
          <a:ext cx="10936224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938528"/>
                <a:gridCol w="3182112"/>
                <a:gridCol w="347472"/>
                <a:gridCol w="1938528"/>
                <a:gridCol w="3182112"/>
              </a:tblGrid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No.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문제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예상 답변 핵심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No.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핵심 문제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예상 답변 핵심</a:t>
                      </a:r>
                    </a:p>
                  </a:txBody>
                  <a:tcPr marL="22860" marR="22860" marT="10972" marB="10972">
                    <a:solidFill>
                      <a:srgbClr val="1D4E74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세관 도착 후 배송 지연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지연 원인 확인, 세관 문의, 추가서류 확인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전자제품 중국 수입 관세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HS Code, FTA 조건, 세금 종류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중국 무역 계약서 검토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필수 조항, 중국 법규, 전문가 검토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원산지증명서 재발급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재발급 조건, 신청절차, 유효기간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EU 의류 수출 통관서류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통관서류, EU 요건, 작성 유의점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혼적 화물 통관 방식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개별/공동 신고 조건과 장단점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해상운송 발송인 정보 수정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수정 가능 여부, 절차, 추가비용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CIF/CFR 보험 책임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책임 범위, 보험 주체, 비용 차이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신고 금액 오류 수정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수정 신청, 필요서류, 과태료 가능성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통관 지연 시 경매 처분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초과 통관 절차, 경매 기준, 사전조치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식품 중국 수입 검역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검역 등록, 제출서류, 검사 항목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중국 업체 수출입 자격 조회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공식 조회 채널, 절차, 핵심 확인정보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세관 화물 압류 원인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압류 원인, 처리절차, 기관 문의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항공/해상 운임 계산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항공 부피중량, 해상 계산, 운임 기준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FOB 비용 부담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발송인/수하인 비용 구분, 분쟁 기준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수하인 화물 포기 비용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법적 책임, 부담 비용, 대응 방안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  <a:tr h="494607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안전한 결제 방식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결제방식 위험도, 수수료, 추천 방식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FTA 관세 우대 증빙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증빙자료, 원산지증명서, 신청 절차</a:t>
                      </a:r>
                    </a:p>
                  </a:txBody>
                  <a:tcPr marL="22860" marR="22860" marT="10972" marB="10972">
                    <a:solidFill>
                      <a:srgbClr val="FFFFFF"/>
                    </a:solidFill>
                  </a:tcPr>
                </a:tc>
              </a:tr>
              <a:tr h="49461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운송 중 해손 배상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책임 주체, 청구서류, 보험 처리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defRPr sz="720" b="1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관세 연체료 감면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defRPr sz="700" b="0">
                          <a:solidFill>
                            <a:srgbClr val="1F2937"/>
                          </a:solidFill>
                          <a:latin typeface="Malgun Gothic"/>
                        </a:defRPr>
                      </a:pPr>
                      <a:r>
                        <a:t>감면 조건, 필요서류, 불가 사유</a:t>
                      </a:r>
                    </a:p>
                  </a:txBody>
                  <a:tcPr marL="22860" marR="22860" marT="10972" marB="10972">
                    <a:solidFill>
                      <a:srgbClr val="EF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Evaluation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제안 시스템은 필수 정보 수집 능력을 크게 개선했습니다.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10/12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17222D"/>
                </a:solidFill>
                <a:latin typeface="Malgun Gothic"/>
              </a:rPr>
              <a:t>Required Information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Baseline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560320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560320"/>
            <a:ext cx="737189" cy="320040"/>
          </a:xfrm>
          <a:prstGeom prst="rect">
            <a:avLst/>
          </a:prstGeom>
          <a:solidFill>
            <a:srgbClr val="B86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55117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B8671F"/>
                </a:solidFill>
                <a:latin typeface="Malgun Gothic"/>
              </a:rPr>
              <a:t>0.139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Baseline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429000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3429000"/>
            <a:ext cx="3595786" cy="320040"/>
          </a:xfrm>
          <a:prstGeom prst="rect">
            <a:avLst/>
          </a:prstGeom>
          <a:solidFill>
            <a:srgbClr val="2F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1985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2F5D9C"/>
                </a:solidFill>
                <a:latin typeface="Malgun Gothic"/>
              </a:rPr>
              <a:t>0.678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79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7222D"/>
                </a:solidFill>
                <a:latin typeface="Malgun Gothic"/>
              </a:rPr>
              <a:t>Proposed 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297679"/>
            <a:ext cx="5303520" cy="320040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0" y="4297679"/>
            <a:ext cx="5128503" cy="320040"/>
          </a:xfrm>
          <a:prstGeom prst="rect">
            <a:avLst/>
          </a:prstGeom>
          <a:solidFill>
            <a:srgbClr val="127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28853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12745E"/>
                </a:solidFill>
                <a:latin typeface="Malgun Gothic"/>
              </a:rPr>
              <a:t>0.967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103120"/>
            <a:ext cx="2148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2249424"/>
            <a:ext cx="18196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해석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633472"/>
            <a:ext cx="1746504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RAG는 근거성 개선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Reflection은 누락 정보 보완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Overpromise rate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60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7222D"/>
                </a:solidFill>
                <a:latin typeface="Malgun Gothic"/>
              </a:rPr>
              <a:t>무역 상담에서 초기 필수 정보 수집은 견적, 클레임, 통관 판단의 출발점입니다.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한계와 윤리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AI는 최종 결정자가 아니라 상담 보조자입니다.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AI가 하면 안 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법률 판단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통관·인증 확정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환불·보상 확정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회사 역량 과장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보호해야 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거래 자료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계약/주문 정보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제품 정보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개인정보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8328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9751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운영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359152"/>
            <a:ext cx="2980944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근거 기반 답변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불확실성 명시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담당자 연결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로그/권한 관리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12745E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22D"/>
                </a:solidFill>
                <a:latin typeface="Malgun Gothic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43000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57484"/>
                </a:solidFill>
                <a:latin typeface="Malgun Gothic"/>
              </a:rPr>
              <a:t>TradeCare-Agent는 실제 서비스에 가까운 Agent 기반 고객센터 앱입니다.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17904"/>
            <a:ext cx="11155680" cy="18288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8208" y="6419088"/>
            <a:ext cx="8412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57484"/>
                </a:solidFill>
                <a:latin typeface="Malgun Gothic"/>
              </a:rPr>
              <a:t>12/12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12745E"/>
                </a:solidFill>
                <a:latin typeface="Malgun Gothic"/>
              </a:rPr>
              <a:t>기술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Multi-Agent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RAG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Reflection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FastAPI Tool/API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F5D9C"/>
                </a:solidFill>
                <a:latin typeface="Malgun Gothic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웹앱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GitHub Repository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지식베이스/프롬프트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평가 벤치마크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발표/논문 자료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975104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B8671F"/>
                </a:solidFill>
                <a:latin typeface="Malgun Gothic"/>
              </a:rPr>
              <a:t>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359152"/>
            <a:ext cx="293522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실제 상담 로그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품목별 인증 DB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관리자 이관</a:t>
            </a:r>
          </a:p>
          <a:p>
            <a:pPr>
              <a:spcAft>
                <a:spcPts val="400"/>
              </a:spcAft>
              <a:defRPr sz="1250">
                <a:solidFill>
                  <a:srgbClr val="17222D"/>
                </a:solidFill>
                <a:latin typeface="Malgun Gothic"/>
              </a:defRPr>
            </a:pPr>
            <a:r>
              <a:rPr>
                <a:latin typeface="Malgun Gothic"/>
              </a:rPr>
              <a:t>trade-yh.com 연동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2745E"/>
                </a:solidFill>
                <a:latin typeface="Malgun Gothic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