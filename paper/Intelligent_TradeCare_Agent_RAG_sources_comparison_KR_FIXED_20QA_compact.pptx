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6" r:id="rId16"/>
    <p:sldId id="261" r:id="rId11"/>
    <p:sldId id="262" r:id="rId12"/>
    <p:sldId id="263" r:id="rId13"/>
    <p:sldId id="264" r:id="rId14"/>
    <p:sldId id="267" r:id="rId17"/>
    <p:sldId id="268" r:id="rId18"/>
    <p:sldId id="265" r:id="rId15"/>
  </p:sldIdLst>
  <p:sldSz cx="16256000" cy="9144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esProps" Target="presProps.xml"/><Relationship Id="rId3" Type="http://schemas.openxmlformats.org/officeDocument/2006/relationships/viewProps" Target="viewProps.xml"/><Relationship Id="rId4" Type="http://schemas.openxmlformats.org/officeDocument/2006/relationships/theme" Target="theme/theme1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7.xml"/><Relationship Id="rId12" Type="http://schemas.openxmlformats.org/officeDocument/2006/relationships/slide" Target="slides/slide8.xml"/><Relationship Id="rId13" Type="http://schemas.openxmlformats.org/officeDocument/2006/relationships/slide" Target="slides/slide9.xml"/><Relationship Id="rId14" Type="http://schemas.openxmlformats.org/officeDocument/2006/relationships/slide" Target="slides/slide10.xml"/><Relationship Id="rId15" Type="http://schemas.openxmlformats.org/officeDocument/2006/relationships/slide" Target="slides/slide12.xml"/><Relationship Id="rId16" Type="http://schemas.openxmlformats.org/officeDocument/2006/relationships/slide" Target="slides/slide6.xml"/><Relationship Id="rId17" Type="http://schemas.openxmlformats.org/officeDocument/2006/relationships/slide" Target="slides/slide11.xml"/><Relationship Id="rId18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4B5E73"/>
                </a:solidFill>
                <a:latin typeface="Malgun Gothic"/>
              </a:rPr>
              <a:t>TradeCare-Agent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58368"/>
            <a:ext cx="11155680" cy="4754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0C1F36"/>
                </a:solidFill>
                <a:latin typeface="Malgun Gothic"/>
              </a:rPr>
              <a:t>RAG 지식 베이스 출처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1161288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0">
                <a:solidFill>
                  <a:srgbClr val="505863"/>
                </a:solidFill>
                <a:latin typeface="Malgun Gothic"/>
              </a:rPr>
              <a:t>답변 생성 전에 문서화된 윤항무역 지식을 먼저 검색합니다.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783080"/>
            <a:ext cx="3566160" cy="2148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46304" tIns="128016"/>
          <a:lstStyle/>
          <a:p>
            <a:pPr algn="ctr">
              <a:defRPr sz="1700" b="1">
                <a:solidFill>
                  <a:srgbClr val="1C5B84"/>
                </a:solidFill>
                <a:latin typeface="Malgun Gothic"/>
              </a:defRPr>
            </a:pPr>
            <a:r>
              <a:rPr>
                <a:latin typeface="Malgun Gothic"/>
              </a:rPr>
              <a:t>출처 파일</a:t>
            </a:r>
          </a:p>
          <a:p>
            <a:pPr>
              <a:spcAft>
                <a:spcPts val="300"/>
              </a:spcAft>
              <a:defRPr sz="1250">
                <a:solidFill>
                  <a:srgbClr val="233041"/>
                </a:solidFill>
                <a:latin typeface="Malgun Gothic"/>
              </a:defRPr>
            </a:pPr>
            <a:r>
              <a:rPr>
                <a:latin typeface="Malgun Gothic"/>
              </a:rPr>
              <a:t>data/knowledge_base/*.md</a:t>
            </a:r>
          </a:p>
          <a:p>
            <a:pPr>
              <a:spcAft>
                <a:spcPts val="300"/>
              </a:spcAft>
              <a:defRPr sz="1250">
                <a:solidFill>
                  <a:srgbClr val="233041"/>
                </a:solidFill>
                <a:latin typeface="Malgun Gothic"/>
              </a:defRPr>
            </a:pPr>
            <a:r>
              <a:rPr>
                <a:latin typeface="Malgun Gothic"/>
              </a:rPr>
              <a:t>company_profile.md</a:t>
            </a:r>
          </a:p>
          <a:p>
            <a:pPr>
              <a:spcAft>
                <a:spcPts val="300"/>
              </a:spcAft>
              <a:defRPr sz="1250">
                <a:solidFill>
                  <a:srgbClr val="233041"/>
                </a:solidFill>
                <a:latin typeface="Malgun Gothic"/>
              </a:defRPr>
            </a:pPr>
            <a:r>
              <a:rPr>
                <a:latin typeface="Malgun Gothic"/>
              </a:rPr>
              <a:t>services_oem_odm.md</a:t>
            </a:r>
          </a:p>
          <a:p>
            <a:pPr>
              <a:spcAft>
                <a:spcPts val="300"/>
              </a:spcAft>
              <a:defRPr sz="1250">
                <a:solidFill>
                  <a:srgbClr val="233041"/>
                </a:solidFill>
                <a:latin typeface="Malgun Gothic"/>
              </a:defRPr>
            </a:pPr>
            <a:r>
              <a:rPr>
                <a:latin typeface="Malgun Gothic"/>
              </a:rPr>
              <a:t>services_purchasing_agent.md</a:t>
            </a:r>
          </a:p>
          <a:p>
            <a:pPr>
              <a:spcAft>
                <a:spcPts val="300"/>
              </a:spcAft>
              <a:defRPr sz="1250">
                <a:solidFill>
                  <a:srgbClr val="233041"/>
                </a:solidFill>
                <a:latin typeface="Malgun Gothic"/>
              </a:defRPr>
            </a:pPr>
            <a:r>
              <a:rPr>
                <a:latin typeface="Malgun Gothic"/>
              </a:rPr>
              <a:t>defect_claim_process.md</a:t>
            </a:r>
          </a:p>
          <a:p>
            <a:pPr>
              <a:spcAft>
                <a:spcPts val="300"/>
              </a:spcAft>
              <a:defRPr sz="1250">
                <a:solidFill>
                  <a:srgbClr val="233041"/>
                </a:solidFill>
                <a:latin typeface="Malgun Gothic"/>
              </a:defRPr>
            </a:pPr>
            <a:r>
              <a:rPr>
                <a:latin typeface="Malgun Gothic"/>
              </a:rPr>
              <a:t>logistics_customs_basic.md, faq.md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434840" y="1783080"/>
            <a:ext cx="3566160" cy="2148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46304" tIns="128016"/>
          <a:lstStyle/>
          <a:p>
            <a:pPr algn="ctr">
              <a:defRPr sz="1700" b="1">
                <a:solidFill>
                  <a:srgbClr val="1D785A"/>
                </a:solidFill>
                <a:latin typeface="Malgun Gothic"/>
              </a:defRPr>
            </a:pPr>
            <a:r>
              <a:rPr>
                <a:latin typeface="Malgun Gothic"/>
              </a:rPr>
              <a:t>수집/정리 기준</a:t>
            </a:r>
          </a:p>
          <a:p>
            <a:pPr>
              <a:spcAft>
                <a:spcPts val="300"/>
              </a:spcAft>
              <a:defRPr sz="1250">
                <a:solidFill>
                  <a:srgbClr val="233041"/>
                </a:solidFill>
                <a:latin typeface="Malgun Gothic"/>
              </a:defRPr>
            </a:pPr>
            <a:r>
              <a:rPr>
                <a:latin typeface="Malgun Gothic"/>
              </a:rPr>
              <a:t>윤항무역 서비스 범위</a:t>
            </a:r>
          </a:p>
          <a:p>
            <a:pPr>
              <a:spcAft>
                <a:spcPts val="300"/>
              </a:spcAft>
              <a:defRPr sz="1250">
                <a:solidFill>
                  <a:srgbClr val="233041"/>
                </a:solidFill>
                <a:latin typeface="Malgun Gothic"/>
              </a:defRPr>
            </a:pPr>
            <a:r>
              <a:rPr>
                <a:latin typeface="Malgun Gothic"/>
              </a:rPr>
              <a:t>홈페이지 서비스 안내 정보</a:t>
            </a:r>
          </a:p>
          <a:p>
            <a:pPr>
              <a:spcAft>
                <a:spcPts val="300"/>
              </a:spcAft>
              <a:defRPr sz="1250">
                <a:solidFill>
                  <a:srgbClr val="233041"/>
                </a:solidFill>
                <a:latin typeface="Malgun Gothic"/>
              </a:defRPr>
            </a:pPr>
            <a:r>
              <a:rPr>
                <a:latin typeface="Malgun Gothic"/>
              </a:rPr>
              <a:t>운영자가 제공한 상담 규칙</a:t>
            </a:r>
          </a:p>
          <a:p>
            <a:pPr>
              <a:spcAft>
                <a:spcPts val="300"/>
              </a:spcAft>
              <a:defRPr sz="1250">
                <a:solidFill>
                  <a:srgbClr val="233041"/>
                </a:solidFill>
                <a:latin typeface="Malgun Gothic"/>
              </a:defRPr>
            </a:pPr>
            <a:r>
              <a:rPr>
                <a:latin typeface="Malgun Gothic"/>
              </a:rPr>
              <a:t>업무 유형별 필수 확인 정보</a:t>
            </a:r>
          </a:p>
          <a:p>
            <a:pPr>
              <a:spcAft>
                <a:spcPts val="300"/>
              </a:spcAft>
              <a:defRPr sz="1250">
                <a:solidFill>
                  <a:srgbClr val="233041"/>
                </a:solidFill>
                <a:latin typeface="Malgun Gothic"/>
              </a:defRPr>
            </a:pPr>
            <a:r>
              <a:rPr>
                <a:latin typeface="Malgun Gothic"/>
              </a:rPr>
              <a:t>확인 전 단가, MOQ, 환불, 통관 확정 금지 규칙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75320" y="1783080"/>
            <a:ext cx="3337560" cy="2148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46304" tIns="128016"/>
          <a:lstStyle/>
          <a:p>
            <a:pPr algn="ctr">
              <a:defRPr sz="1700" b="1">
                <a:solidFill>
                  <a:srgbClr val="925324"/>
                </a:solidFill>
                <a:latin typeface="Malgun Gothic"/>
              </a:defRPr>
            </a:pPr>
            <a:r>
              <a:rPr>
                <a:latin typeface="Malgun Gothic"/>
              </a:rPr>
              <a:t>단일 LLM 대비 강점</a:t>
            </a:r>
          </a:p>
          <a:p>
            <a:pPr>
              <a:spcAft>
                <a:spcPts val="300"/>
              </a:spcAft>
              <a:defRPr sz="1250">
                <a:solidFill>
                  <a:srgbClr val="233041"/>
                </a:solidFill>
                <a:latin typeface="Malgun Gothic"/>
              </a:defRPr>
            </a:pPr>
            <a:r>
              <a:rPr>
                <a:latin typeface="Malgun Gothic"/>
              </a:rPr>
              <a:t>회사 정책 기반 답변</a:t>
            </a:r>
          </a:p>
          <a:p>
            <a:pPr>
              <a:spcAft>
                <a:spcPts val="300"/>
              </a:spcAft>
              <a:defRPr sz="1250">
                <a:solidFill>
                  <a:srgbClr val="233041"/>
                </a:solidFill>
                <a:latin typeface="Malgun Gothic"/>
              </a:defRPr>
            </a:pPr>
            <a:r>
              <a:rPr>
                <a:latin typeface="Malgun Gothic"/>
              </a:rPr>
              <a:t>업무별 누락 정보 요청</a:t>
            </a:r>
          </a:p>
          <a:p>
            <a:pPr>
              <a:spcAft>
                <a:spcPts val="300"/>
              </a:spcAft>
              <a:defRPr sz="1250">
                <a:solidFill>
                  <a:srgbClr val="233041"/>
                </a:solidFill>
                <a:latin typeface="Malgun Gothic"/>
              </a:defRPr>
            </a:pPr>
            <a:r>
              <a:rPr>
                <a:latin typeface="Malgun Gothic"/>
              </a:rPr>
              <a:t>과장된 가능 여부 답변 감소</a:t>
            </a:r>
          </a:p>
          <a:p>
            <a:pPr>
              <a:spcAft>
                <a:spcPts val="300"/>
              </a:spcAft>
              <a:defRPr sz="1250">
                <a:solidFill>
                  <a:srgbClr val="233041"/>
                </a:solidFill>
                <a:latin typeface="Malgun Gothic"/>
              </a:defRPr>
            </a:pPr>
            <a:r>
              <a:rPr>
                <a:latin typeface="Malgun Gothic"/>
              </a:rPr>
              <a:t>검색 후 Risk/Critic 검토 수행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4315968"/>
            <a:ext cx="11018520" cy="1234440"/>
          </a:xfrm>
          <a:prstGeom prst="roundRect">
            <a:avLst/>
          </a:prstGeom>
          <a:solidFill>
            <a:srgbClr val="E8F0F7"/>
          </a:solidFill>
          <a:ln>
            <a:solidFill>
              <a:srgbClr val="BECF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01168" rIns="201168" tIns="128016"/>
          <a:lstStyle/>
          <a:p>
            <a:pPr algn="ctr">
              <a:defRPr sz="1500" b="1">
                <a:solidFill>
                  <a:srgbClr val="0C1F36"/>
                </a:solidFill>
                <a:latin typeface="Malgun Gothic"/>
              </a:defRPr>
            </a:pPr>
            <a:r>
              <a:rPr>
                <a:latin typeface="Malgun Gothic"/>
              </a:rPr>
              <a:t>예시 검색 흐름</a:t>
            </a:r>
          </a:p>
          <a:p>
            <a:pPr>
              <a:defRPr sz="1300">
                <a:solidFill>
                  <a:srgbClr val="233041"/>
                </a:solidFill>
                <a:latin typeface="Malgun Gothic"/>
              </a:defRPr>
            </a:pPr>
            <a:r>
              <a:rPr>
                <a:latin typeface="Malgun Gothic"/>
              </a:rPr>
              <a:t>OEM/ODM 문의 -&gt; services_oem_odm.md + quotation_required_fields.md 검색 -&gt; 사진, 사양, 수량, 로고/패키지, 납기를 요청하고 확정 표현을 피함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1792" y="6080760"/>
            <a:ext cx="1088136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0">
                <a:solidFill>
                  <a:srgbClr val="4B5866"/>
                </a:solidFill>
                <a:latin typeface="Malgun Gothic"/>
              </a:rPr>
              <a:t>아키텍처 정당성: Retrieval은 근거를 제공하고, Risk는 위험한 확정 표현을 제거하며, Critic은 답변이 검색된 제약을 따르는지 검토합니다.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4B5E73"/>
                </a:solidFill>
                <a:latin typeface="Malgun Gothic"/>
              </a:rPr>
              <a:t>TradeCare-Agent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58368"/>
            <a:ext cx="111556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0C1F36"/>
                </a:solidFill>
                <a:latin typeface="Malgun Gothic"/>
              </a:rPr>
              <a:t>고객 응대 답변 품질 비교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1133856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0">
                <a:solidFill>
                  <a:srgbClr val="505863"/>
                </a:solidFill>
                <a:latin typeface="Malgun Gothic"/>
              </a:rPr>
              <a:t>같은 OEM/샘플 제작 문의를 필수 정보 포함률과 위험 표현 통제 기준으로 비교합니다.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737360"/>
            <a:ext cx="3429000" cy="32004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844E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28016" tIns="146304"/>
          <a:lstStyle/>
          <a:p>
            <a:pPr algn="ctr">
              <a:defRPr sz="1800" b="1">
                <a:solidFill>
                  <a:srgbClr val="844E40"/>
                </a:solidFill>
                <a:latin typeface="Malgun Gothic"/>
              </a:defRPr>
            </a:pPr>
            <a:r>
              <a:rPr>
                <a:latin typeface="Malgun Gothic"/>
              </a:rPr>
              <a:t>일반 GPT</a:t>
            </a:r>
          </a:p>
          <a:p>
            <a:pPr>
              <a:spcAft>
                <a:spcPts val="700"/>
              </a:spcAft>
              <a:defRPr sz="1200" b="1">
                <a:solidFill>
                  <a:srgbClr val="3C4652"/>
                </a:solidFill>
                <a:latin typeface="Malgun Gothic"/>
              </a:defRPr>
            </a:pPr>
            <a:r>
              <a:rPr>
                <a:latin typeface="Malgun Gothic"/>
              </a:rPr>
              <a:t>단일 답변</a:t>
            </a:r>
          </a:p>
          <a:p>
            <a:pPr>
              <a:spcAft>
                <a:spcPts val="400"/>
              </a:spcAft>
              <a:defRPr sz="1230">
                <a:solidFill>
                  <a:srgbClr val="233041"/>
                </a:solidFill>
                <a:latin typeface="Malgun Gothic"/>
              </a:defRPr>
            </a:pPr>
            <a:r>
              <a:rPr>
                <a:latin typeface="Malgun Gothic"/>
              </a:rPr>
              <a:t>일반적인 OEM 설명 제공</a:t>
            </a:r>
          </a:p>
          <a:p>
            <a:pPr>
              <a:spcAft>
                <a:spcPts val="400"/>
              </a:spcAft>
              <a:defRPr sz="1230">
                <a:solidFill>
                  <a:srgbClr val="233041"/>
                </a:solidFill>
                <a:latin typeface="Malgun Gothic"/>
              </a:defRPr>
            </a:pPr>
            <a:r>
              <a:rPr>
                <a:latin typeface="Malgun Gothic"/>
              </a:rPr>
              <a:t>이미지, 사양, 패턴, 수량, 로고/패키지, 배송지를 빠뜨릴 수 있음</a:t>
            </a:r>
          </a:p>
          <a:p>
            <a:pPr>
              <a:spcAft>
                <a:spcPts val="400"/>
              </a:spcAft>
              <a:defRPr sz="1230">
                <a:solidFill>
                  <a:srgbClr val="233041"/>
                </a:solidFill>
                <a:latin typeface="Malgun Gothic"/>
              </a:defRPr>
            </a:pPr>
            <a:r>
              <a:rPr>
                <a:latin typeface="Malgun Gothic"/>
              </a:rPr>
              <a:t>공급처 확인 전에도 지나치게 확정적으로 들릴 수 있음</a:t>
            </a:r>
          </a:p>
          <a:p>
            <a:pPr>
              <a:spcAft>
                <a:spcPts val="400"/>
              </a:spcAft>
              <a:defRPr sz="1230">
                <a:solidFill>
                  <a:srgbClr val="233041"/>
                </a:solidFill>
                <a:latin typeface="Malgun Gothic"/>
              </a:defRPr>
            </a:pPr>
            <a:r>
              <a:rPr>
                <a:latin typeface="Malgun Gothic"/>
              </a:rPr>
              <a:t>필수 정보 포함 점수: 0.139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89120" y="1737360"/>
            <a:ext cx="3429000" cy="32004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D67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28016" tIns="146304"/>
          <a:lstStyle/>
          <a:p>
            <a:pPr algn="ctr">
              <a:defRPr sz="1800" b="1">
                <a:solidFill>
                  <a:srgbClr val="2D6797"/>
                </a:solidFill>
                <a:latin typeface="Malgun Gothic"/>
              </a:defRPr>
            </a:pPr>
            <a:r>
              <a:rPr>
                <a:latin typeface="Malgun Gothic"/>
              </a:rPr>
              <a:t>GPT + RAG</a:t>
            </a:r>
          </a:p>
          <a:p>
            <a:pPr>
              <a:spcAft>
                <a:spcPts val="700"/>
              </a:spcAft>
              <a:defRPr sz="1200" b="1">
                <a:solidFill>
                  <a:srgbClr val="3C4652"/>
                </a:solidFill>
                <a:latin typeface="Malgun Gothic"/>
              </a:defRPr>
            </a:pPr>
            <a:r>
              <a:rPr>
                <a:latin typeface="Malgun Gothic"/>
              </a:rPr>
              <a:t>검색 기반 답변</a:t>
            </a:r>
          </a:p>
          <a:p>
            <a:pPr>
              <a:spcAft>
                <a:spcPts val="400"/>
              </a:spcAft>
              <a:defRPr sz="1230">
                <a:solidFill>
                  <a:srgbClr val="233041"/>
                </a:solidFill>
                <a:latin typeface="Malgun Gothic"/>
              </a:defRPr>
            </a:pPr>
            <a:r>
              <a:rPr>
                <a:latin typeface="Malgun Gothic"/>
              </a:rPr>
              <a:t>서비스 문서 참고</a:t>
            </a:r>
          </a:p>
          <a:p>
            <a:pPr>
              <a:spcAft>
                <a:spcPts val="400"/>
              </a:spcAft>
              <a:defRPr sz="1230">
                <a:solidFill>
                  <a:srgbClr val="233041"/>
                </a:solidFill>
                <a:latin typeface="Malgun Gothic"/>
              </a:defRPr>
            </a:pPr>
            <a:r>
              <a:rPr>
                <a:latin typeface="Malgun Gothic"/>
              </a:rPr>
              <a:t>일부 누락 정보 요청</a:t>
            </a:r>
          </a:p>
          <a:p>
            <a:pPr>
              <a:spcAft>
                <a:spcPts val="400"/>
              </a:spcAft>
              <a:defRPr sz="1230">
                <a:solidFill>
                  <a:srgbClr val="233041"/>
                </a:solidFill>
                <a:latin typeface="Malgun Gothic"/>
              </a:defRPr>
            </a:pPr>
            <a:r>
              <a:rPr>
                <a:latin typeface="Malgun Gothic"/>
              </a:rPr>
              <a:t>별도 Risk Agent 없음</a:t>
            </a:r>
          </a:p>
          <a:p>
            <a:pPr>
              <a:spcAft>
                <a:spcPts val="400"/>
              </a:spcAft>
              <a:defRPr sz="1230">
                <a:solidFill>
                  <a:srgbClr val="233041"/>
                </a:solidFill>
                <a:latin typeface="Malgun Gothic"/>
              </a:defRPr>
            </a:pPr>
            <a:r>
              <a:rPr>
                <a:latin typeface="Malgun Gothic"/>
              </a:rPr>
              <a:t>Critic Reflection 루프 없음</a:t>
            </a:r>
          </a:p>
          <a:p>
            <a:pPr>
              <a:spcAft>
                <a:spcPts val="400"/>
              </a:spcAft>
              <a:defRPr sz="1230">
                <a:solidFill>
                  <a:srgbClr val="233041"/>
                </a:solidFill>
                <a:latin typeface="Malgun Gothic"/>
              </a:defRPr>
            </a:pPr>
            <a:r>
              <a:rPr>
                <a:latin typeface="Malgun Gothic"/>
              </a:rPr>
              <a:t>필수 정보 포함 점수: 0.678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183879" y="1737360"/>
            <a:ext cx="3429000" cy="32004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180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28016" tIns="146304"/>
          <a:lstStyle/>
          <a:p>
            <a:pPr algn="ctr">
              <a:defRPr sz="1800" b="1">
                <a:solidFill>
                  <a:srgbClr val="21805C"/>
                </a:solidFill>
                <a:latin typeface="Malgun Gothic"/>
              </a:defRPr>
            </a:pPr>
            <a:r>
              <a:rPr>
                <a:latin typeface="Malgun Gothic"/>
              </a:rPr>
              <a:t>TradeCare Agent</a:t>
            </a:r>
          </a:p>
          <a:p>
            <a:pPr>
              <a:spcAft>
                <a:spcPts val="700"/>
              </a:spcAft>
              <a:defRPr sz="1200" b="1">
                <a:solidFill>
                  <a:srgbClr val="3C4652"/>
                </a:solidFill>
                <a:latin typeface="Malgun Gothic"/>
              </a:defRPr>
            </a:pPr>
            <a:r>
              <a:rPr>
                <a:latin typeface="Malgun Gothic"/>
              </a:rPr>
              <a:t>Multi-Agent + RAG + Reflection</a:t>
            </a:r>
          </a:p>
          <a:p>
            <a:pPr>
              <a:spcAft>
                <a:spcPts val="400"/>
              </a:spcAft>
              <a:defRPr sz="1230">
                <a:solidFill>
                  <a:srgbClr val="233041"/>
                </a:solidFill>
                <a:latin typeface="Malgun Gothic"/>
              </a:defRPr>
            </a:pPr>
            <a:r>
              <a:rPr>
                <a:latin typeface="Malgun Gothic"/>
              </a:rPr>
              <a:t>OEM/ODM 의도 분류</a:t>
            </a:r>
          </a:p>
          <a:p>
            <a:pPr>
              <a:spcAft>
                <a:spcPts val="400"/>
              </a:spcAft>
              <a:defRPr sz="1230">
                <a:solidFill>
                  <a:srgbClr val="233041"/>
                </a:solidFill>
                <a:latin typeface="Malgun Gothic"/>
              </a:defRPr>
            </a:pPr>
            <a:r>
              <a:rPr>
                <a:latin typeface="Malgun Gothic"/>
              </a:rPr>
              <a:t>회사 업무 규칙 검색</a:t>
            </a:r>
          </a:p>
          <a:p>
            <a:pPr>
              <a:spcAft>
                <a:spcPts val="400"/>
              </a:spcAft>
              <a:defRPr sz="1230">
                <a:solidFill>
                  <a:srgbClr val="233041"/>
                </a:solidFill>
                <a:latin typeface="Malgun Gothic"/>
              </a:defRPr>
            </a:pPr>
            <a:r>
              <a:rPr>
                <a:latin typeface="Malgun Gothic"/>
              </a:rPr>
              <a:t>구체적인 접수 체크리스트 요청</a:t>
            </a:r>
          </a:p>
          <a:p>
            <a:pPr>
              <a:spcAft>
                <a:spcPts val="400"/>
              </a:spcAft>
              <a:defRPr sz="1230">
                <a:solidFill>
                  <a:srgbClr val="233041"/>
                </a:solidFill>
                <a:latin typeface="Malgun Gothic"/>
              </a:defRPr>
            </a:pPr>
            <a:r>
              <a:rPr>
                <a:latin typeface="Malgun Gothic"/>
              </a:rPr>
              <a:t>MOQ, 샘플비, 납기, 제작 가능 여부를 확인 전 확정하지 않음</a:t>
            </a:r>
          </a:p>
          <a:p>
            <a:pPr>
              <a:spcAft>
                <a:spcPts val="400"/>
              </a:spcAft>
              <a:defRPr sz="1230">
                <a:solidFill>
                  <a:srgbClr val="233041"/>
                </a:solidFill>
                <a:latin typeface="Malgun Gothic"/>
              </a:defRPr>
            </a:pPr>
            <a:r>
              <a:rPr>
                <a:latin typeface="Malgun Gothic"/>
              </a:rPr>
              <a:t>필수 정보 포함 점수: 0.967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5257800"/>
            <a:ext cx="11018520" cy="731520"/>
          </a:xfrm>
          <a:prstGeom prst="roundRect">
            <a:avLst/>
          </a:prstGeom>
          <a:solidFill>
            <a:srgbClr val="E5EFF7"/>
          </a:solidFill>
          <a:ln>
            <a:solidFill>
              <a:srgbClr val="B9CF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rIns="182880"/>
          <a:lstStyle/>
          <a:p>
            <a:pPr algn="ctr">
              <a:defRPr sz="1350" b="1">
                <a:solidFill>
                  <a:srgbClr val="183046"/>
                </a:solidFill>
                <a:latin typeface="Malgun Gothic"/>
              </a:defRPr>
            </a:pPr>
            <a:r>
              <a:rPr>
                <a:latin typeface="Malgun Gothic"/>
              </a:rPr>
              <a:t>결론: TradeCare Agent는 불완전한 고객 문의를 실행 가능한 접수 체크리스트로 바꾸고, 근거 기반 답변과 확정 표현 방지를 동시에 수행합니다.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164592"/>
            <a:ext cx="11338560" cy="228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000" b="1">
                <a:solidFill>
                  <a:srgbClr val="4B5E73"/>
                </a:solidFill>
                <a:latin typeface="Malgun Gothic"/>
              </a:rPr>
              <a:t>TradeCare-Agent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438912"/>
            <a:ext cx="11338560" cy="34747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2200" b="1">
                <a:solidFill>
                  <a:srgbClr val="0C1F36"/>
                </a:solidFill>
                <a:latin typeface="Malgun Gothic"/>
              </a:rPr>
              <a:t>고객 예상 질문 20개 및 예상 답변 핵심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38912" y="804672"/>
            <a:ext cx="11155680" cy="228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019" b="0">
                <a:solidFill>
                  <a:srgbClr val="505863"/>
                </a:solidFill>
                <a:latin typeface="Malgun Gothic"/>
              </a:rPr>
              <a:t>질문은 발표용으로 핵심 문제명만 압축하고, 답변은 평가에 필요한 Gold Standard 핵심만 표시했습니다.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347472" y="1133856"/>
          <a:ext cx="10936224" cy="5440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47472"/>
                <a:gridCol w="1938528"/>
                <a:gridCol w="3182112"/>
                <a:gridCol w="347472"/>
                <a:gridCol w="1938528"/>
                <a:gridCol w="3182112"/>
              </a:tblGrid>
              <a:tr h="494607">
                <a:tc>
                  <a:txBody>
                    <a:bodyPr wrap="square">
                      <a:normAutofit/>
                    </a:bodyPr>
                    <a:lstStyle/>
                    <a:p>
                      <a:pPr algn="ctr">
                        <a:defRPr sz="780" b="1">
                          <a:solidFill>
                            <a:srgbClr val="FFFFFF"/>
                          </a:solidFill>
                          <a:latin typeface="Malgun Gothic"/>
                        </a:defRPr>
                      </a:pPr>
                      <a:r>
                        <a:t>No.</a:t>
                      </a:r>
                    </a:p>
                  </a:txBody>
                  <a:tcPr marL="22860" marR="22860" marT="10972" marB="10972">
                    <a:solidFill>
                      <a:srgbClr val="1D4E74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pPr algn="ctr">
                        <a:defRPr sz="780" b="1">
                          <a:solidFill>
                            <a:srgbClr val="FFFFFF"/>
                          </a:solidFill>
                          <a:latin typeface="Malgun Gothic"/>
                        </a:defRPr>
                      </a:pPr>
                      <a:r>
                        <a:t>핵심 문제</a:t>
                      </a:r>
                    </a:p>
                  </a:txBody>
                  <a:tcPr marL="22860" marR="22860" marT="10972" marB="10972">
                    <a:solidFill>
                      <a:srgbClr val="1D4E74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pPr algn="ctr">
                        <a:defRPr sz="780" b="1">
                          <a:solidFill>
                            <a:srgbClr val="FFFFFF"/>
                          </a:solidFill>
                          <a:latin typeface="Malgun Gothic"/>
                        </a:defRPr>
                      </a:pPr>
                      <a:r>
                        <a:t>예상 답변 핵심</a:t>
                      </a:r>
                    </a:p>
                  </a:txBody>
                  <a:tcPr marL="22860" marR="22860" marT="10972" marB="10972">
                    <a:solidFill>
                      <a:srgbClr val="1D4E74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pPr algn="ctr">
                        <a:defRPr sz="780" b="1">
                          <a:solidFill>
                            <a:srgbClr val="FFFFFF"/>
                          </a:solidFill>
                          <a:latin typeface="Malgun Gothic"/>
                        </a:defRPr>
                      </a:pPr>
                      <a:r>
                        <a:t>No.</a:t>
                      </a:r>
                    </a:p>
                  </a:txBody>
                  <a:tcPr marL="22860" marR="22860" marT="10972" marB="10972">
                    <a:solidFill>
                      <a:srgbClr val="1D4E74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pPr algn="ctr">
                        <a:defRPr sz="780" b="1">
                          <a:solidFill>
                            <a:srgbClr val="FFFFFF"/>
                          </a:solidFill>
                          <a:latin typeface="Malgun Gothic"/>
                        </a:defRPr>
                      </a:pPr>
                      <a:r>
                        <a:t>핵심 문제</a:t>
                      </a:r>
                    </a:p>
                  </a:txBody>
                  <a:tcPr marL="22860" marR="22860" marT="10972" marB="10972">
                    <a:solidFill>
                      <a:srgbClr val="1D4E74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pPr algn="ctr">
                        <a:defRPr sz="780" b="1">
                          <a:solidFill>
                            <a:srgbClr val="FFFFFF"/>
                          </a:solidFill>
                          <a:latin typeface="Malgun Gothic"/>
                        </a:defRPr>
                      </a:pPr>
                      <a:r>
                        <a:t>예상 답변 핵심</a:t>
                      </a:r>
                    </a:p>
                  </a:txBody>
                  <a:tcPr marL="22860" marR="22860" marT="10972" marB="10972">
                    <a:solidFill>
                      <a:srgbClr val="1D4E74"/>
                    </a:solidFill>
                  </a:tcPr>
                </a:tc>
              </a:tr>
              <a:tr h="494607">
                <a:tc>
                  <a:txBody>
                    <a:bodyPr wrap="square">
                      <a:normAutofit/>
                    </a:bodyPr>
                    <a:lstStyle/>
                    <a:p>
                      <a:pPr algn="ctr">
                        <a:defRPr sz="720" b="1">
                          <a:solidFill>
                            <a:srgbClr val="1F2937"/>
                          </a:solidFill>
                          <a:latin typeface="Malgun Gothic"/>
                        </a:defRPr>
                      </a:pPr>
                      <a:r>
                        <a:t>1</a:t>
                      </a:r>
                    </a:p>
                  </a:txBody>
                  <a:tcPr marL="22860" marR="22860" marT="10972" marB="10972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pPr>
                        <a:defRPr sz="700" b="0">
                          <a:solidFill>
                            <a:srgbClr val="1F2937"/>
                          </a:solidFill>
                          <a:latin typeface="Malgun Gothic"/>
                        </a:defRPr>
                      </a:pPr>
                      <a:r>
                        <a:t>세관 도착 후 배송 지연</a:t>
                      </a:r>
                    </a:p>
                  </a:txBody>
                  <a:tcPr marL="22860" marR="22860" marT="10972" marB="10972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pPr>
                        <a:defRPr sz="700" b="0">
                          <a:solidFill>
                            <a:srgbClr val="1F2937"/>
                          </a:solidFill>
                          <a:latin typeface="Malgun Gothic"/>
                        </a:defRPr>
                      </a:pPr>
                      <a:r>
                        <a:t>지연 원인 확인, 세관 문의, 추가서류 확인</a:t>
                      </a:r>
                    </a:p>
                  </a:txBody>
                  <a:tcPr marL="22860" marR="22860" marT="10972" marB="10972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pPr algn="ctr">
                        <a:defRPr sz="720" b="1">
                          <a:solidFill>
                            <a:srgbClr val="1F2937"/>
                          </a:solidFill>
                          <a:latin typeface="Malgun Gothic"/>
                        </a:defRPr>
                      </a:pPr>
                      <a:r>
                        <a:t>11</a:t>
                      </a:r>
                    </a:p>
                  </a:txBody>
                  <a:tcPr marL="22860" marR="22860" marT="10972" marB="10972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pPr>
                        <a:defRPr sz="700" b="0">
                          <a:solidFill>
                            <a:srgbClr val="1F2937"/>
                          </a:solidFill>
                          <a:latin typeface="Malgun Gothic"/>
                        </a:defRPr>
                      </a:pPr>
                      <a:r>
                        <a:t>전자제품 중국 수입 관세</a:t>
                      </a:r>
                    </a:p>
                  </a:txBody>
                  <a:tcPr marL="22860" marR="22860" marT="10972" marB="10972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pPr>
                        <a:defRPr sz="700" b="0">
                          <a:solidFill>
                            <a:srgbClr val="1F2937"/>
                          </a:solidFill>
                          <a:latin typeface="Malgun Gothic"/>
                        </a:defRPr>
                      </a:pPr>
                      <a:r>
                        <a:t>HS Code, FTA 조건, 세금 종류</a:t>
                      </a:r>
                    </a:p>
                  </a:txBody>
                  <a:tcPr marL="22860" marR="22860" marT="10972" marB="10972">
                    <a:solidFill>
                      <a:srgbClr val="FFFFFF"/>
                    </a:solidFill>
                  </a:tcPr>
                </a:tc>
              </a:tr>
              <a:tr h="494607">
                <a:tc>
                  <a:txBody>
                    <a:bodyPr wrap="square">
                      <a:normAutofit/>
                    </a:bodyPr>
                    <a:lstStyle/>
                    <a:p>
                      <a:pPr algn="ctr">
                        <a:defRPr sz="720" b="1">
                          <a:solidFill>
                            <a:srgbClr val="1F2937"/>
                          </a:solidFill>
                          <a:latin typeface="Malgun Gothic"/>
                        </a:defRPr>
                      </a:pPr>
                      <a:r>
                        <a:t>2</a:t>
                      </a:r>
                    </a:p>
                  </a:txBody>
                  <a:tcPr marL="22860" marR="22860" marT="10972" marB="10972">
                    <a:solidFill>
                      <a:srgbClr val="EFF5FA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pPr>
                        <a:defRPr sz="700" b="0">
                          <a:solidFill>
                            <a:srgbClr val="1F2937"/>
                          </a:solidFill>
                          <a:latin typeface="Malgun Gothic"/>
                        </a:defRPr>
                      </a:pPr>
                      <a:r>
                        <a:t>중국 무역 계약서 검토</a:t>
                      </a:r>
                    </a:p>
                  </a:txBody>
                  <a:tcPr marL="22860" marR="22860" marT="10972" marB="10972">
                    <a:solidFill>
                      <a:srgbClr val="EFF5FA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pPr>
                        <a:defRPr sz="700" b="0">
                          <a:solidFill>
                            <a:srgbClr val="1F2937"/>
                          </a:solidFill>
                          <a:latin typeface="Malgun Gothic"/>
                        </a:defRPr>
                      </a:pPr>
                      <a:r>
                        <a:t>필수 조항, 중국 법규, 전문가 검토</a:t>
                      </a:r>
                    </a:p>
                  </a:txBody>
                  <a:tcPr marL="22860" marR="22860" marT="10972" marB="10972">
                    <a:solidFill>
                      <a:srgbClr val="EFF5FA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pPr algn="ctr">
                        <a:defRPr sz="720" b="1">
                          <a:solidFill>
                            <a:srgbClr val="1F2937"/>
                          </a:solidFill>
                          <a:latin typeface="Malgun Gothic"/>
                        </a:defRPr>
                      </a:pPr>
                      <a:r>
                        <a:t>12</a:t>
                      </a:r>
                    </a:p>
                  </a:txBody>
                  <a:tcPr marL="22860" marR="22860" marT="10972" marB="10972">
                    <a:solidFill>
                      <a:srgbClr val="EFF5FA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pPr>
                        <a:defRPr sz="700" b="0">
                          <a:solidFill>
                            <a:srgbClr val="1F2937"/>
                          </a:solidFill>
                          <a:latin typeface="Malgun Gothic"/>
                        </a:defRPr>
                      </a:pPr>
                      <a:r>
                        <a:t>원산지증명서 재발급</a:t>
                      </a:r>
                    </a:p>
                  </a:txBody>
                  <a:tcPr marL="22860" marR="22860" marT="10972" marB="10972">
                    <a:solidFill>
                      <a:srgbClr val="EFF5FA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pPr>
                        <a:defRPr sz="700" b="0">
                          <a:solidFill>
                            <a:srgbClr val="1F2937"/>
                          </a:solidFill>
                          <a:latin typeface="Malgun Gothic"/>
                        </a:defRPr>
                      </a:pPr>
                      <a:r>
                        <a:t>재발급 조건, 신청절차, 유효기간</a:t>
                      </a:r>
                    </a:p>
                  </a:txBody>
                  <a:tcPr marL="22860" marR="22860" marT="10972" marB="10972">
                    <a:solidFill>
                      <a:srgbClr val="EFF5FA"/>
                    </a:solidFill>
                  </a:tcPr>
                </a:tc>
              </a:tr>
              <a:tr h="494607">
                <a:tc>
                  <a:txBody>
                    <a:bodyPr wrap="square">
                      <a:normAutofit/>
                    </a:bodyPr>
                    <a:lstStyle/>
                    <a:p>
                      <a:pPr algn="ctr">
                        <a:defRPr sz="720" b="1">
                          <a:solidFill>
                            <a:srgbClr val="1F2937"/>
                          </a:solidFill>
                          <a:latin typeface="Malgun Gothic"/>
                        </a:defRPr>
                      </a:pPr>
                      <a:r>
                        <a:t>3</a:t>
                      </a:r>
                    </a:p>
                  </a:txBody>
                  <a:tcPr marL="22860" marR="22860" marT="10972" marB="10972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pPr>
                        <a:defRPr sz="700" b="0">
                          <a:solidFill>
                            <a:srgbClr val="1F2937"/>
                          </a:solidFill>
                          <a:latin typeface="Malgun Gothic"/>
                        </a:defRPr>
                      </a:pPr>
                      <a:r>
                        <a:t>EU 의류 수출 통관서류</a:t>
                      </a:r>
                    </a:p>
                  </a:txBody>
                  <a:tcPr marL="22860" marR="22860" marT="10972" marB="10972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pPr>
                        <a:defRPr sz="700" b="0">
                          <a:solidFill>
                            <a:srgbClr val="1F2937"/>
                          </a:solidFill>
                          <a:latin typeface="Malgun Gothic"/>
                        </a:defRPr>
                      </a:pPr>
                      <a:r>
                        <a:t>통관서류, EU 요건, 작성 유의점</a:t>
                      </a:r>
                    </a:p>
                  </a:txBody>
                  <a:tcPr marL="22860" marR="22860" marT="10972" marB="10972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pPr algn="ctr">
                        <a:defRPr sz="720" b="1">
                          <a:solidFill>
                            <a:srgbClr val="1F2937"/>
                          </a:solidFill>
                          <a:latin typeface="Malgun Gothic"/>
                        </a:defRPr>
                      </a:pPr>
                      <a:r>
                        <a:t>13</a:t>
                      </a:r>
                    </a:p>
                  </a:txBody>
                  <a:tcPr marL="22860" marR="22860" marT="10972" marB="10972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pPr>
                        <a:defRPr sz="700" b="0">
                          <a:solidFill>
                            <a:srgbClr val="1F2937"/>
                          </a:solidFill>
                          <a:latin typeface="Malgun Gothic"/>
                        </a:defRPr>
                      </a:pPr>
                      <a:r>
                        <a:t>혼적 화물 통관 방식</a:t>
                      </a:r>
                    </a:p>
                  </a:txBody>
                  <a:tcPr marL="22860" marR="22860" marT="10972" marB="10972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pPr>
                        <a:defRPr sz="700" b="0">
                          <a:solidFill>
                            <a:srgbClr val="1F2937"/>
                          </a:solidFill>
                          <a:latin typeface="Malgun Gothic"/>
                        </a:defRPr>
                      </a:pPr>
                      <a:r>
                        <a:t>개별/공동 신고 조건과 장단점</a:t>
                      </a:r>
                    </a:p>
                  </a:txBody>
                  <a:tcPr marL="22860" marR="22860" marT="10972" marB="10972">
                    <a:solidFill>
                      <a:srgbClr val="FFFFFF"/>
                    </a:solidFill>
                  </a:tcPr>
                </a:tc>
              </a:tr>
              <a:tr h="494607">
                <a:tc>
                  <a:txBody>
                    <a:bodyPr wrap="square">
                      <a:normAutofit/>
                    </a:bodyPr>
                    <a:lstStyle/>
                    <a:p>
                      <a:pPr algn="ctr">
                        <a:defRPr sz="720" b="1">
                          <a:solidFill>
                            <a:srgbClr val="1F2937"/>
                          </a:solidFill>
                          <a:latin typeface="Malgun Gothic"/>
                        </a:defRPr>
                      </a:pPr>
                      <a:r>
                        <a:t>4</a:t>
                      </a:r>
                    </a:p>
                  </a:txBody>
                  <a:tcPr marL="22860" marR="22860" marT="10972" marB="10972">
                    <a:solidFill>
                      <a:srgbClr val="EFF5FA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pPr>
                        <a:defRPr sz="700" b="0">
                          <a:solidFill>
                            <a:srgbClr val="1F2937"/>
                          </a:solidFill>
                          <a:latin typeface="Malgun Gothic"/>
                        </a:defRPr>
                      </a:pPr>
                      <a:r>
                        <a:t>해상운송 발송인 정보 수정</a:t>
                      </a:r>
                    </a:p>
                  </a:txBody>
                  <a:tcPr marL="22860" marR="22860" marT="10972" marB="10972">
                    <a:solidFill>
                      <a:srgbClr val="EFF5FA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pPr>
                        <a:defRPr sz="700" b="0">
                          <a:solidFill>
                            <a:srgbClr val="1F2937"/>
                          </a:solidFill>
                          <a:latin typeface="Malgun Gothic"/>
                        </a:defRPr>
                      </a:pPr>
                      <a:r>
                        <a:t>수정 가능 여부, 절차, 추가비용</a:t>
                      </a:r>
                    </a:p>
                  </a:txBody>
                  <a:tcPr marL="22860" marR="22860" marT="10972" marB="10972">
                    <a:solidFill>
                      <a:srgbClr val="EFF5FA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pPr algn="ctr">
                        <a:defRPr sz="720" b="1">
                          <a:solidFill>
                            <a:srgbClr val="1F2937"/>
                          </a:solidFill>
                          <a:latin typeface="Malgun Gothic"/>
                        </a:defRPr>
                      </a:pPr>
                      <a:r>
                        <a:t>14</a:t>
                      </a:r>
                    </a:p>
                  </a:txBody>
                  <a:tcPr marL="22860" marR="22860" marT="10972" marB="10972">
                    <a:solidFill>
                      <a:srgbClr val="EFF5FA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pPr>
                        <a:defRPr sz="700" b="0">
                          <a:solidFill>
                            <a:srgbClr val="1F2937"/>
                          </a:solidFill>
                          <a:latin typeface="Malgun Gothic"/>
                        </a:defRPr>
                      </a:pPr>
                      <a:r>
                        <a:t>CIF/CFR 보험 책임</a:t>
                      </a:r>
                    </a:p>
                  </a:txBody>
                  <a:tcPr marL="22860" marR="22860" marT="10972" marB="10972">
                    <a:solidFill>
                      <a:srgbClr val="EFF5FA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pPr>
                        <a:defRPr sz="700" b="0">
                          <a:solidFill>
                            <a:srgbClr val="1F2937"/>
                          </a:solidFill>
                          <a:latin typeface="Malgun Gothic"/>
                        </a:defRPr>
                      </a:pPr>
                      <a:r>
                        <a:t>책임 범위, 보험 주체, 비용 차이</a:t>
                      </a:r>
                    </a:p>
                  </a:txBody>
                  <a:tcPr marL="22860" marR="22860" marT="10972" marB="10972">
                    <a:solidFill>
                      <a:srgbClr val="EFF5FA"/>
                    </a:solidFill>
                  </a:tcPr>
                </a:tc>
              </a:tr>
              <a:tr h="494607">
                <a:tc>
                  <a:txBody>
                    <a:bodyPr wrap="square">
                      <a:normAutofit/>
                    </a:bodyPr>
                    <a:lstStyle/>
                    <a:p>
                      <a:pPr algn="ctr">
                        <a:defRPr sz="720" b="1">
                          <a:solidFill>
                            <a:srgbClr val="1F2937"/>
                          </a:solidFill>
                          <a:latin typeface="Malgun Gothic"/>
                        </a:defRPr>
                      </a:pPr>
                      <a:r>
                        <a:t>5</a:t>
                      </a:r>
                    </a:p>
                  </a:txBody>
                  <a:tcPr marL="22860" marR="22860" marT="10972" marB="10972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pPr>
                        <a:defRPr sz="700" b="0">
                          <a:solidFill>
                            <a:srgbClr val="1F2937"/>
                          </a:solidFill>
                          <a:latin typeface="Malgun Gothic"/>
                        </a:defRPr>
                      </a:pPr>
                      <a:r>
                        <a:t>신고 금액 오류 수정</a:t>
                      </a:r>
                    </a:p>
                  </a:txBody>
                  <a:tcPr marL="22860" marR="22860" marT="10972" marB="10972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pPr>
                        <a:defRPr sz="700" b="0">
                          <a:solidFill>
                            <a:srgbClr val="1F2937"/>
                          </a:solidFill>
                          <a:latin typeface="Malgun Gothic"/>
                        </a:defRPr>
                      </a:pPr>
                      <a:r>
                        <a:t>수정 신청, 필요서류, 과태료 가능성</a:t>
                      </a:r>
                    </a:p>
                  </a:txBody>
                  <a:tcPr marL="22860" marR="22860" marT="10972" marB="10972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pPr algn="ctr">
                        <a:defRPr sz="720" b="1">
                          <a:solidFill>
                            <a:srgbClr val="1F2937"/>
                          </a:solidFill>
                          <a:latin typeface="Malgun Gothic"/>
                        </a:defRPr>
                      </a:pPr>
                      <a:r>
                        <a:t>15</a:t>
                      </a:r>
                    </a:p>
                  </a:txBody>
                  <a:tcPr marL="22860" marR="22860" marT="10972" marB="10972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pPr>
                        <a:defRPr sz="700" b="0">
                          <a:solidFill>
                            <a:srgbClr val="1F2937"/>
                          </a:solidFill>
                          <a:latin typeface="Malgun Gothic"/>
                        </a:defRPr>
                      </a:pPr>
                      <a:r>
                        <a:t>통관 지연 시 경매 처분</a:t>
                      </a:r>
                    </a:p>
                  </a:txBody>
                  <a:tcPr marL="22860" marR="22860" marT="10972" marB="10972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pPr>
                        <a:defRPr sz="700" b="0">
                          <a:solidFill>
                            <a:srgbClr val="1F2937"/>
                          </a:solidFill>
                          <a:latin typeface="Malgun Gothic"/>
                        </a:defRPr>
                      </a:pPr>
                      <a:r>
                        <a:t>초과 통관 절차, 경매 기준, 사전조치</a:t>
                      </a:r>
                    </a:p>
                  </a:txBody>
                  <a:tcPr marL="22860" marR="22860" marT="10972" marB="10972">
                    <a:solidFill>
                      <a:srgbClr val="FFFFFF"/>
                    </a:solidFill>
                  </a:tcPr>
                </a:tc>
              </a:tr>
              <a:tr h="494607">
                <a:tc>
                  <a:txBody>
                    <a:bodyPr wrap="square">
                      <a:normAutofit/>
                    </a:bodyPr>
                    <a:lstStyle/>
                    <a:p>
                      <a:pPr algn="ctr">
                        <a:defRPr sz="720" b="1">
                          <a:solidFill>
                            <a:srgbClr val="1F2937"/>
                          </a:solidFill>
                          <a:latin typeface="Malgun Gothic"/>
                        </a:defRPr>
                      </a:pPr>
                      <a:r>
                        <a:t>6</a:t>
                      </a:r>
                    </a:p>
                  </a:txBody>
                  <a:tcPr marL="22860" marR="22860" marT="10972" marB="10972">
                    <a:solidFill>
                      <a:srgbClr val="EFF5FA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pPr>
                        <a:defRPr sz="700" b="0">
                          <a:solidFill>
                            <a:srgbClr val="1F2937"/>
                          </a:solidFill>
                          <a:latin typeface="Malgun Gothic"/>
                        </a:defRPr>
                      </a:pPr>
                      <a:r>
                        <a:t>식품 중국 수입 검역</a:t>
                      </a:r>
                    </a:p>
                  </a:txBody>
                  <a:tcPr marL="22860" marR="22860" marT="10972" marB="10972">
                    <a:solidFill>
                      <a:srgbClr val="EFF5FA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pPr>
                        <a:defRPr sz="700" b="0">
                          <a:solidFill>
                            <a:srgbClr val="1F2937"/>
                          </a:solidFill>
                          <a:latin typeface="Malgun Gothic"/>
                        </a:defRPr>
                      </a:pPr>
                      <a:r>
                        <a:t>검역 등록, 제출서류, 검사 항목</a:t>
                      </a:r>
                    </a:p>
                  </a:txBody>
                  <a:tcPr marL="22860" marR="22860" marT="10972" marB="10972">
                    <a:solidFill>
                      <a:srgbClr val="EFF5FA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pPr algn="ctr">
                        <a:defRPr sz="720" b="1">
                          <a:solidFill>
                            <a:srgbClr val="1F2937"/>
                          </a:solidFill>
                          <a:latin typeface="Malgun Gothic"/>
                        </a:defRPr>
                      </a:pPr>
                      <a:r>
                        <a:t>16</a:t>
                      </a:r>
                    </a:p>
                  </a:txBody>
                  <a:tcPr marL="22860" marR="22860" marT="10972" marB="10972">
                    <a:solidFill>
                      <a:srgbClr val="EFF5FA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pPr>
                        <a:defRPr sz="700" b="0">
                          <a:solidFill>
                            <a:srgbClr val="1F2937"/>
                          </a:solidFill>
                          <a:latin typeface="Malgun Gothic"/>
                        </a:defRPr>
                      </a:pPr>
                      <a:r>
                        <a:t>중국 업체 수출입 자격 조회</a:t>
                      </a:r>
                    </a:p>
                  </a:txBody>
                  <a:tcPr marL="22860" marR="22860" marT="10972" marB="10972">
                    <a:solidFill>
                      <a:srgbClr val="EFF5FA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pPr>
                        <a:defRPr sz="700" b="0">
                          <a:solidFill>
                            <a:srgbClr val="1F2937"/>
                          </a:solidFill>
                          <a:latin typeface="Malgun Gothic"/>
                        </a:defRPr>
                      </a:pPr>
                      <a:r>
                        <a:t>공식 조회 채널, 절차, 핵심 확인정보</a:t>
                      </a:r>
                    </a:p>
                  </a:txBody>
                  <a:tcPr marL="22860" marR="22860" marT="10972" marB="10972">
                    <a:solidFill>
                      <a:srgbClr val="EFF5FA"/>
                    </a:solidFill>
                  </a:tcPr>
                </a:tc>
              </a:tr>
              <a:tr h="494607">
                <a:tc>
                  <a:txBody>
                    <a:bodyPr wrap="square">
                      <a:normAutofit/>
                    </a:bodyPr>
                    <a:lstStyle/>
                    <a:p>
                      <a:pPr algn="ctr">
                        <a:defRPr sz="720" b="1">
                          <a:solidFill>
                            <a:srgbClr val="1F2937"/>
                          </a:solidFill>
                          <a:latin typeface="Malgun Gothic"/>
                        </a:defRPr>
                      </a:pPr>
                      <a:r>
                        <a:t>7</a:t>
                      </a:r>
                    </a:p>
                  </a:txBody>
                  <a:tcPr marL="22860" marR="22860" marT="10972" marB="10972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pPr>
                        <a:defRPr sz="700" b="0">
                          <a:solidFill>
                            <a:srgbClr val="1F2937"/>
                          </a:solidFill>
                          <a:latin typeface="Malgun Gothic"/>
                        </a:defRPr>
                      </a:pPr>
                      <a:r>
                        <a:t>세관 화물 압류 원인</a:t>
                      </a:r>
                    </a:p>
                  </a:txBody>
                  <a:tcPr marL="22860" marR="22860" marT="10972" marB="10972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pPr>
                        <a:defRPr sz="700" b="0">
                          <a:solidFill>
                            <a:srgbClr val="1F2937"/>
                          </a:solidFill>
                          <a:latin typeface="Malgun Gothic"/>
                        </a:defRPr>
                      </a:pPr>
                      <a:r>
                        <a:t>압류 원인, 처리절차, 기관 문의</a:t>
                      </a:r>
                    </a:p>
                  </a:txBody>
                  <a:tcPr marL="22860" marR="22860" marT="10972" marB="10972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pPr algn="ctr">
                        <a:defRPr sz="720" b="1">
                          <a:solidFill>
                            <a:srgbClr val="1F2937"/>
                          </a:solidFill>
                          <a:latin typeface="Malgun Gothic"/>
                        </a:defRPr>
                      </a:pPr>
                      <a:r>
                        <a:t>17</a:t>
                      </a:r>
                    </a:p>
                  </a:txBody>
                  <a:tcPr marL="22860" marR="22860" marT="10972" marB="10972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pPr>
                        <a:defRPr sz="700" b="0">
                          <a:solidFill>
                            <a:srgbClr val="1F2937"/>
                          </a:solidFill>
                          <a:latin typeface="Malgun Gothic"/>
                        </a:defRPr>
                      </a:pPr>
                      <a:r>
                        <a:t>항공/해상 운임 계산</a:t>
                      </a:r>
                    </a:p>
                  </a:txBody>
                  <a:tcPr marL="22860" marR="22860" marT="10972" marB="10972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pPr>
                        <a:defRPr sz="700" b="0">
                          <a:solidFill>
                            <a:srgbClr val="1F2937"/>
                          </a:solidFill>
                          <a:latin typeface="Malgun Gothic"/>
                        </a:defRPr>
                      </a:pPr>
                      <a:r>
                        <a:t>항공 부피중량, 해상 계산, 운임 기준</a:t>
                      </a:r>
                    </a:p>
                  </a:txBody>
                  <a:tcPr marL="22860" marR="22860" marT="10972" marB="10972">
                    <a:solidFill>
                      <a:srgbClr val="FFFFFF"/>
                    </a:solidFill>
                  </a:tcPr>
                </a:tc>
              </a:tr>
              <a:tr h="494607">
                <a:tc>
                  <a:txBody>
                    <a:bodyPr wrap="square">
                      <a:normAutofit/>
                    </a:bodyPr>
                    <a:lstStyle/>
                    <a:p>
                      <a:pPr algn="ctr">
                        <a:defRPr sz="720" b="1">
                          <a:solidFill>
                            <a:srgbClr val="1F2937"/>
                          </a:solidFill>
                          <a:latin typeface="Malgun Gothic"/>
                        </a:defRPr>
                      </a:pPr>
                      <a:r>
                        <a:t>8</a:t>
                      </a:r>
                    </a:p>
                  </a:txBody>
                  <a:tcPr marL="22860" marR="22860" marT="10972" marB="10972">
                    <a:solidFill>
                      <a:srgbClr val="EFF5FA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pPr>
                        <a:defRPr sz="700" b="0">
                          <a:solidFill>
                            <a:srgbClr val="1F2937"/>
                          </a:solidFill>
                          <a:latin typeface="Malgun Gothic"/>
                        </a:defRPr>
                      </a:pPr>
                      <a:r>
                        <a:t>FOB 비용 부담</a:t>
                      </a:r>
                    </a:p>
                  </a:txBody>
                  <a:tcPr marL="22860" marR="22860" marT="10972" marB="10972">
                    <a:solidFill>
                      <a:srgbClr val="EFF5FA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pPr>
                        <a:defRPr sz="700" b="0">
                          <a:solidFill>
                            <a:srgbClr val="1F2937"/>
                          </a:solidFill>
                          <a:latin typeface="Malgun Gothic"/>
                        </a:defRPr>
                      </a:pPr>
                      <a:r>
                        <a:t>발송인/수하인 비용 구분, 분쟁 기준</a:t>
                      </a:r>
                    </a:p>
                  </a:txBody>
                  <a:tcPr marL="22860" marR="22860" marT="10972" marB="10972">
                    <a:solidFill>
                      <a:srgbClr val="EFF5FA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pPr algn="ctr">
                        <a:defRPr sz="720" b="1">
                          <a:solidFill>
                            <a:srgbClr val="1F2937"/>
                          </a:solidFill>
                          <a:latin typeface="Malgun Gothic"/>
                        </a:defRPr>
                      </a:pPr>
                      <a:r>
                        <a:t>18</a:t>
                      </a:r>
                    </a:p>
                  </a:txBody>
                  <a:tcPr marL="22860" marR="22860" marT="10972" marB="10972">
                    <a:solidFill>
                      <a:srgbClr val="EFF5FA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pPr>
                        <a:defRPr sz="700" b="0">
                          <a:solidFill>
                            <a:srgbClr val="1F2937"/>
                          </a:solidFill>
                          <a:latin typeface="Malgun Gothic"/>
                        </a:defRPr>
                      </a:pPr>
                      <a:r>
                        <a:t>수하인 화물 포기 비용</a:t>
                      </a:r>
                    </a:p>
                  </a:txBody>
                  <a:tcPr marL="22860" marR="22860" marT="10972" marB="10972">
                    <a:solidFill>
                      <a:srgbClr val="EFF5FA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pPr>
                        <a:defRPr sz="700" b="0">
                          <a:solidFill>
                            <a:srgbClr val="1F2937"/>
                          </a:solidFill>
                          <a:latin typeface="Malgun Gothic"/>
                        </a:defRPr>
                      </a:pPr>
                      <a:r>
                        <a:t>법적 책임, 부담 비용, 대응 방안</a:t>
                      </a:r>
                    </a:p>
                  </a:txBody>
                  <a:tcPr marL="22860" marR="22860" marT="10972" marB="10972">
                    <a:solidFill>
                      <a:srgbClr val="EFF5FA"/>
                    </a:solidFill>
                  </a:tcPr>
                </a:tc>
              </a:tr>
              <a:tr h="494607">
                <a:tc>
                  <a:txBody>
                    <a:bodyPr wrap="square">
                      <a:normAutofit/>
                    </a:bodyPr>
                    <a:lstStyle/>
                    <a:p>
                      <a:pPr algn="ctr">
                        <a:defRPr sz="720" b="1">
                          <a:solidFill>
                            <a:srgbClr val="1F2937"/>
                          </a:solidFill>
                          <a:latin typeface="Malgun Gothic"/>
                        </a:defRPr>
                      </a:pPr>
                      <a:r>
                        <a:t>9</a:t>
                      </a:r>
                    </a:p>
                  </a:txBody>
                  <a:tcPr marL="22860" marR="22860" marT="10972" marB="10972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pPr>
                        <a:defRPr sz="700" b="0">
                          <a:solidFill>
                            <a:srgbClr val="1F2937"/>
                          </a:solidFill>
                          <a:latin typeface="Malgun Gothic"/>
                        </a:defRPr>
                      </a:pPr>
                      <a:r>
                        <a:t>안전한 결제 방식</a:t>
                      </a:r>
                    </a:p>
                  </a:txBody>
                  <a:tcPr marL="22860" marR="22860" marT="10972" marB="10972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pPr>
                        <a:defRPr sz="700" b="0">
                          <a:solidFill>
                            <a:srgbClr val="1F2937"/>
                          </a:solidFill>
                          <a:latin typeface="Malgun Gothic"/>
                        </a:defRPr>
                      </a:pPr>
                      <a:r>
                        <a:t>결제방식 위험도, 수수료, 추천 방식</a:t>
                      </a:r>
                    </a:p>
                  </a:txBody>
                  <a:tcPr marL="22860" marR="22860" marT="10972" marB="10972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pPr algn="ctr">
                        <a:defRPr sz="720" b="1">
                          <a:solidFill>
                            <a:srgbClr val="1F2937"/>
                          </a:solidFill>
                          <a:latin typeface="Malgun Gothic"/>
                        </a:defRPr>
                      </a:pPr>
                      <a:r>
                        <a:t>19</a:t>
                      </a:r>
                    </a:p>
                  </a:txBody>
                  <a:tcPr marL="22860" marR="22860" marT="10972" marB="10972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pPr>
                        <a:defRPr sz="700" b="0">
                          <a:solidFill>
                            <a:srgbClr val="1F2937"/>
                          </a:solidFill>
                          <a:latin typeface="Malgun Gothic"/>
                        </a:defRPr>
                      </a:pPr>
                      <a:r>
                        <a:t>FTA 관세 우대 증빙</a:t>
                      </a:r>
                    </a:p>
                  </a:txBody>
                  <a:tcPr marL="22860" marR="22860" marT="10972" marB="10972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pPr>
                        <a:defRPr sz="700" b="0">
                          <a:solidFill>
                            <a:srgbClr val="1F2937"/>
                          </a:solidFill>
                          <a:latin typeface="Malgun Gothic"/>
                        </a:defRPr>
                      </a:pPr>
                      <a:r>
                        <a:t>증빙자료, 원산지증명서, 신청 절차</a:t>
                      </a:r>
                    </a:p>
                  </a:txBody>
                  <a:tcPr marL="22860" marR="22860" marT="10972" marB="10972">
                    <a:solidFill>
                      <a:srgbClr val="FFFFFF"/>
                    </a:solidFill>
                  </a:tcPr>
                </a:tc>
              </a:tr>
              <a:tr h="494610">
                <a:tc>
                  <a:txBody>
                    <a:bodyPr wrap="square">
                      <a:normAutofit/>
                    </a:bodyPr>
                    <a:lstStyle/>
                    <a:p>
                      <a:pPr algn="ctr">
                        <a:defRPr sz="720" b="1">
                          <a:solidFill>
                            <a:srgbClr val="1F2937"/>
                          </a:solidFill>
                          <a:latin typeface="Malgun Gothic"/>
                        </a:defRPr>
                      </a:pPr>
                      <a:r>
                        <a:t>10</a:t>
                      </a:r>
                    </a:p>
                  </a:txBody>
                  <a:tcPr marL="22860" marR="22860" marT="10972" marB="10972">
                    <a:solidFill>
                      <a:srgbClr val="EFF5FA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pPr>
                        <a:defRPr sz="700" b="0">
                          <a:solidFill>
                            <a:srgbClr val="1F2937"/>
                          </a:solidFill>
                          <a:latin typeface="Malgun Gothic"/>
                        </a:defRPr>
                      </a:pPr>
                      <a:r>
                        <a:t>운송 중 해손 배상</a:t>
                      </a:r>
                    </a:p>
                  </a:txBody>
                  <a:tcPr marL="22860" marR="22860" marT="10972" marB="10972">
                    <a:solidFill>
                      <a:srgbClr val="EFF5FA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pPr>
                        <a:defRPr sz="700" b="0">
                          <a:solidFill>
                            <a:srgbClr val="1F2937"/>
                          </a:solidFill>
                          <a:latin typeface="Malgun Gothic"/>
                        </a:defRPr>
                      </a:pPr>
                      <a:r>
                        <a:t>책임 주체, 청구서류, 보험 처리</a:t>
                      </a:r>
                    </a:p>
                  </a:txBody>
                  <a:tcPr marL="22860" marR="22860" marT="10972" marB="10972">
                    <a:solidFill>
                      <a:srgbClr val="EFF5FA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pPr algn="ctr">
                        <a:defRPr sz="720" b="1">
                          <a:solidFill>
                            <a:srgbClr val="1F2937"/>
                          </a:solidFill>
                          <a:latin typeface="Malgun Gothic"/>
                        </a:defRPr>
                      </a:pPr>
                      <a:r>
                        <a:t>20</a:t>
                      </a:r>
                    </a:p>
                  </a:txBody>
                  <a:tcPr marL="22860" marR="22860" marT="10972" marB="10972">
                    <a:solidFill>
                      <a:srgbClr val="EFF5FA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pPr>
                        <a:defRPr sz="700" b="0">
                          <a:solidFill>
                            <a:srgbClr val="1F2937"/>
                          </a:solidFill>
                          <a:latin typeface="Malgun Gothic"/>
                        </a:defRPr>
                      </a:pPr>
                      <a:r>
                        <a:t>관세 연체료 감면</a:t>
                      </a:r>
                    </a:p>
                  </a:txBody>
                  <a:tcPr marL="22860" marR="22860" marT="10972" marB="10972">
                    <a:solidFill>
                      <a:srgbClr val="EFF5FA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pPr>
                        <a:defRPr sz="700" b="0">
                          <a:solidFill>
                            <a:srgbClr val="1F2937"/>
                          </a:solidFill>
                          <a:latin typeface="Malgun Gothic"/>
                        </a:defRPr>
                      </a:pPr>
                      <a:r>
                        <a:t>감면 조건, 필요서류, 불가 사유</a:t>
                      </a:r>
                    </a:p>
                  </a:txBody>
                  <a:tcPr marL="22860" marR="22860" marT="10972" marB="10972">
                    <a:solidFill>
                      <a:srgbClr val="EFF5F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terms:modified xsi:type="dcterms:W3CDTF">2011-08-01T06:04:30Z</dcterms:modified>
  <cp:revision>1</cp:revision>
</cp:coreProperties>
</file>