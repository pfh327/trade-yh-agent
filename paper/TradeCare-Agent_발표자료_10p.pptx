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한중 B2B 무역 고객센터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Multi-Agent + RAG + Reflection + Web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62533"/>
                </a:solidFill>
                <a:latin typeface="Malgun Gothic"/>
              </a:rPr>
              <a:t>중한무역 고객 문의를 분류하고, 필요한 정보를 수집하며, 리스크 있는 답변을 검토하는 실행 가능한 AI 고객센터 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456432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대상 업무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858768"/>
            <a:ext cx="2889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OEM/ODM 제작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중국 구매대행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시장조사 / 불량대응 / 통관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29184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3456432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핵심 기술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3858768"/>
            <a:ext cx="2889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Multi-Agent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RAG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Reflection / Self-Correction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291840"/>
            <a:ext cx="3291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3456432"/>
            <a:ext cx="2889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구현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858768"/>
            <a:ext cx="2889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FastAPI 웹앱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GitHub Repository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30개 벤치마크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무역 상담은 정보가 부족하고 리스크가 높은 업무입니다.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고객 문의의 불완전성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30723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제품 사진만 있고 수량이 없음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1688 링크는 있으나 옵션/배송지 없음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불량률은 있으나 증빙/검품 기록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단정 답변의 위험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95728"/>
            <a:ext cx="30723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가격·MOQ·납기 확정 불가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통관·인증 보장 불가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환불·보상 책임 단정 불가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82880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993392"/>
            <a:ext cx="30723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단일 챗봇의 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395728"/>
            <a:ext cx="3072384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회사 서비스 범위 환각 가능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필수 정보 누락 가능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리스크 표현 검토 부족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시스템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초기 상담을 구조화하고 담당자 확인이 필요한 부분을 명확히 넘깁니다.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99339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1. Intent 분류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95728"/>
            <a:ext cx="28437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OEM/ODM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구매대행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시장조사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불량 클레임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물류·통관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2. 필수 정보 수집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95728"/>
            <a:ext cx="28437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제품명 / URL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수량 / 규격 / 납기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검품 여부 / 주문 자료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HS Code / 인증 여부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2461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2843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3. 안전한 응답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95728"/>
            <a:ext cx="284378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과도한 약속 제거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근거 기반 안내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담당자 확인 유도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역할을 분리해 상담 품질과 리스크 관리를 강화합니다.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3134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15768"/>
            <a:ext cx="14264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문의 분류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누락 정보 추출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1176" y="287121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214884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3134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Retrieval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715768"/>
            <a:ext cx="14264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서비스 문서 검색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RAG 근거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87121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14884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23134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Specialist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58968" y="2715768"/>
            <a:ext cx="14264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실무 답변 초안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다음 행동 안내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87121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214884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44968" y="23134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44968" y="2715768"/>
            <a:ext cx="14264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보장·단정 표현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안전 문구 수정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87121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5C6F80"/>
                </a:solidFill>
                <a:latin typeface="Malgun Gothic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800" y="214884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0968" y="23134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Critic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30968" y="2715768"/>
            <a:ext cx="142646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품질 평가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Reflection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8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2533"/>
                </a:solidFill>
                <a:latin typeface="Malgun Gothic"/>
              </a:rPr>
              <a:t>단일 LLM 호출이 아니라 접수 → 검색 → 답변 생성 → 리스크 검토 → 자기수정 과정을 분리한 Agent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RAG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회사 업무 범위와 무역 절차 문서를 검색해 답변을 grounding합니다.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977639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3575303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지식베이스 문서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3575303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company_profile.md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services_oem_odm.md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services_purchasing_agent.md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services_yiwu_market_research.md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1828800"/>
            <a:ext cx="283464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8" y="1993392"/>
            <a:ext cx="24323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검색 결과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8" y="2395728"/>
            <a:ext cx="243230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문의 유형별 문서 검색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근거 snippet 반환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답변에 참고 지식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828800"/>
            <a:ext cx="33375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예시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2395728"/>
            <a:ext cx="2935224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1688 문의 → 구매대행 문서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불량 문의 → 클레임 프로세스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KC 문의 → 통관/인증 문서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Reflection &amp; Risk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답변을 한 번 더 비판적으로 검토합니다.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4626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위험한 초안 예시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6268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중국에서 생산 가능합니다.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납기는 7일이면 됩니다.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불량은 반드시 환불 가능합니다.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993392"/>
            <a:ext cx="4626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Reflection 이후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395728"/>
            <a:ext cx="462686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제품 자료와 수량 확인 후 생산 가능 여부 안내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공급처 확인 후 예상 납기 안내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증빙과 거래 조건 확인 후 클레임 검토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623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2533"/>
                </a:solidFill>
                <a:latin typeface="Malgun Gothic"/>
              </a:rPr>
              <a:t>Critic Agent는 missing fields, grounding, overpromise, human-review signal을 기준으로 답변을 점검합니다.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Web App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FastAPI 기반으로 실제 실행 가능한 고객센터 앱을 구현했습니다.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FastAPI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`/` 웹앱 제공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`/api/chat` Agent 실행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`/health` 상태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82880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53128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2395728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HTML / CSS / JS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상담 유형 버튼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채팅 입력·응답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Agent 상태 패널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82880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Homepage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2395728"/>
            <a:ext cx="293522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trade-yh.com CORS 허용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api.trade-yh.com 연결 가능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OpenAI API key는 서버에만 보관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8756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745F"/>
                </a:solidFill>
                <a:latin typeface="Malgun Gothic"/>
              </a:rPr>
              <a:t>Local demo URL: http://127.0.0.1:8000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Live Demo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앱 화면에서 상담 흐름과 Agent trace를 보여줍니다.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475488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93392"/>
            <a:ext cx="4352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데모 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395728"/>
            <a:ext cx="435254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중국에서 받은 제품 중 15%가 파손됐어요.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어떻게 대응해야 하나요?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828800"/>
            <a:ext cx="57150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16168" y="1993392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관찰 포인트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6168" y="2395728"/>
            <a:ext cx="5312664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Intent: defect_claim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Missing fields: 사진/영상, 전체 수량, 수령일, 주문 자료, 검품 여부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RAG evidence: defect claim process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환불·보상 단정 없이 담당자 확인 유도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30개 벤치마크로 baseline과 제안 시스템을 비교했습니다.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926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93392"/>
            <a:ext cx="2523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평가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395728"/>
            <a:ext cx="252374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OEM/ODM 6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구매대행 6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시장조사 5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불량 클레임 5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물류·통관 5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일반/범위 외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82880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62533"/>
                </a:solidFill>
                <a:latin typeface="Malgun Gothic"/>
              </a:rPr>
              <a:t>Required Information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4231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2533"/>
                </a:solidFill>
                <a:latin typeface="Malgun Gothic"/>
              </a:rPr>
              <a:t>Baseline LLM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2423160"/>
            <a:ext cx="3840480" cy="256032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532120" y="2423160"/>
            <a:ext cx="533826" cy="256032"/>
          </a:xfrm>
          <a:prstGeom prst="rect">
            <a:avLst/>
          </a:prstGeom>
          <a:solidFill>
            <a:srgbClr val="B76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41401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7681A"/>
                </a:solidFill>
                <a:latin typeface="Malgun Gothic"/>
              </a:rPr>
              <a:t>0.139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32644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2533"/>
                </a:solidFill>
                <a:latin typeface="Malgun Gothic"/>
              </a:rPr>
              <a:t>Baseline 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264408"/>
            <a:ext cx="3840480" cy="256032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32120" y="3264408"/>
            <a:ext cx="2603845" cy="256032"/>
          </a:xfrm>
          <a:prstGeom prst="rect">
            <a:avLst/>
          </a:prstGeom>
          <a:solidFill>
            <a:srgbClr val="2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325526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5C96"/>
                </a:solidFill>
                <a:latin typeface="Malgun Gothic"/>
              </a:rPr>
              <a:t>0.678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4105656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2533"/>
                </a:solidFill>
                <a:latin typeface="Malgun Gothic"/>
              </a:rPr>
              <a:t>Proposed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4105656"/>
            <a:ext cx="3840480" cy="256032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2120" y="4105656"/>
            <a:ext cx="3713744" cy="256032"/>
          </a:xfrm>
          <a:prstGeom prst="rect">
            <a:avLst/>
          </a:prstGeom>
          <a:solidFill>
            <a:srgbClr val="1674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409651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0.967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4206240"/>
            <a:ext cx="2148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4370831"/>
            <a:ext cx="1746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결론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4773168"/>
            <a:ext cx="1746504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Agent 구조가 필수 정보 수집 능력을 크게 개선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745F"/>
                </a:solidFill>
                <a:latin typeface="Malgun Gothic"/>
              </a:rPr>
              <a:t>TradeCare-Agent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62533"/>
                </a:solidFill>
                <a:latin typeface="Malgun Gothic"/>
              </a:rPr>
              <a:t>Limitations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9875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C6F80"/>
                </a:solidFill>
                <a:latin typeface="Malgun Gothic"/>
              </a:rPr>
              <a:t>실제 업무 적용을 위해서는 안전장치와 인간 검토가 필요합니다.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36192"/>
            <a:ext cx="11155680" cy="18288"/>
          </a:xfrm>
          <a:prstGeom prst="rect">
            <a:avLst/>
          </a:prstGeom>
          <a:solidFill>
            <a:srgbClr val="D2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B7681A"/>
                </a:solidFill>
                <a:latin typeface="Malgun Gothic"/>
              </a:rPr>
              <a:t>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2935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최종 법률 판단 불가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통관·인증 확정 불가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환불·보상 책임 단정 불가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8288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5C96"/>
                </a:solidFill>
                <a:latin typeface="Malgun Gothic"/>
              </a:rPr>
              <a:t>윤리·보안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395728"/>
            <a:ext cx="2935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고객 자료 보호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거래 정보 접근 관리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회사 서비스 범위 과장 금지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828800"/>
            <a:ext cx="33375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1993392"/>
            <a:ext cx="2935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6745F"/>
                </a:solidFill>
                <a:latin typeface="Malgun Gothic"/>
              </a:rPr>
              <a:t>기여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395728"/>
            <a:ext cx="2935224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Multi-Agent + RAG + Reflection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웹앱/API 구현</a:t>
            </a:r>
          </a:p>
          <a:p>
            <a:pPr>
              <a:spcAft>
                <a:spcPts val="600"/>
              </a:spcAft>
              <a:defRPr sz="1300">
                <a:solidFill>
                  <a:srgbClr val="162533"/>
                </a:solidFill>
                <a:latin typeface="Malgun Gothic"/>
              </a:defRPr>
            </a:pPr>
            <a:r>
              <a:t>GitHub 재현 가능성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62533"/>
                </a:solidFill>
                <a:latin typeface="Malgun Gothic"/>
              </a:rPr>
              <a:t>TradeCare-Agent는 실제 중한무역 고객센터 업무에 적용 가능한 AI Agent 기반 상담 보조 시스템입니다.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35640" y="641908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F80"/>
                </a:solidFill>
                <a:latin typeface="Malgun Gothic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